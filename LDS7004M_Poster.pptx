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4"/>
    <p:restoredTop sz="94610"/>
  </p:normalViewPr>
  <p:slideViewPr>
    <p:cSldViewPr snapToGrid="0" snapToObjects="1">
      <p:cViewPr>
        <p:scale>
          <a:sx n="80" d="100"/>
          <a:sy n="80" d="100"/>
        </p:scale>
        <p:origin x="496" y="1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Life Expectancy</c:v>
                </c:pt>
              </c:strCache>
            </c:strRef>
          </c:tx>
          <c:spPr>
            <a:solidFill>
              <a:srgbClr val="B83227"/>
            </a:solidFill>
            <a:effectLst/>
          </c:spPr>
          <c:invertIfNegative val="0"/>
          <c:dPt>
            <c:idx val="0"/>
            <c:invertIfNegative val="0"/>
            <c:bubble3D val="0"/>
            <c:extLst>
              <c:ext xmlns:c16="http://schemas.microsoft.com/office/drawing/2014/chart" uri="{C3380CC4-5D6E-409C-BE32-E72D297353CC}">
                <c16:uniqueId val="{00000001-C75F-4042-97A0-B5CA1C6843CE}"/>
              </c:ext>
            </c:extLst>
          </c:dPt>
          <c:dPt>
            <c:idx val="1"/>
            <c:invertIfNegative val="0"/>
            <c:bubble3D val="0"/>
            <c:spPr>
              <a:solidFill>
                <a:srgbClr val="C8790C"/>
              </a:solidFill>
              <a:effectLst/>
            </c:spPr>
            <c:extLst>
              <c:ext xmlns:c16="http://schemas.microsoft.com/office/drawing/2014/chart" uri="{C3380CC4-5D6E-409C-BE32-E72D297353CC}">
                <c16:uniqueId val="{00000003-C75F-4042-97A0-B5CA1C6843CE}"/>
              </c:ext>
            </c:extLst>
          </c:dPt>
          <c:dPt>
            <c:idx val="2"/>
            <c:invertIfNegative val="0"/>
            <c:bubble3D val="0"/>
            <c:spPr>
              <a:solidFill>
                <a:srgbClr val="E0A93C"/>
              </a:solidFill>
              <a:effectLst/>
            </c:spPr>
            <c:extLst>
              <c:ext xmlns:c16="http://schemas.microsoft.com/office/drawing/2014/chart" uri="{C3380CC4-5D6E-409C-BE32-E72D297353CC}">
                <c16:uniqueId val="{00000005-C75F-4042-97A0-B5CA1C6843CE}"/>
              </c:ext>
            </c:extLst>
          </c:dPt>
          <c:dPt>
            <c:idx val="3"/>
            <c:invertIfNegative val="0"/>
            <c:bubble3D val="0"/>
            <c:spPr>
              <a:solidFill>
                <a:srgbClr val="6FAE8E"/>
              </a:solidFill>
              <a:effectLst/>
            </c:spPr>
            <c:extLst>
              <c:ext xmlns:c16="http://schemas.microsoft.com/office/drawing/2014/chart" uri="{C3380CC4-5D6E-409C-BE32-E72D297353CC}">
                <c16:uniqueId val="{00000007-C75F-4042-97A0-B5CA1C6843CE}"/>
              </c:ext>
            </c:extLst>
          </c:dPt>
          <c:dPt>
            <c:idx val="4"/>
            <c:invertIfNegative val="0"/>
            <c:bubble3D val="0"/>
            <c:spPr>
              <a:solidFill>
                <a:srgbClr val="2E8B57"/>
              </a:solidFill>
              <a:effectLst/>
            </c:spPr>
            <c:extLst>
              <c:ext xmlns:c16="http://schemas.microsoft.com/office/drawing/2014/chart" uri="{C3380CC4-5D6E-409C-BE32-E72D297353CC}">
                <c16:uniqueId val="{00000009-C75F-4042-97A0-B5CA1C6843CE}"/>
              </c:ext>
            </c:extLst>
          </c:dPt>
          <c:dPt>
            <c:idx val="5"/>
            <c:invertIfNegative val="0"/>
            <c:bubble3D val="0"/>
            <c:spPr>
              <a:solidFill>
                <a:srgbClr val="0E7C7B"/>
              </a:solidFill>
              <a:effectLst/>
            </c:spPr>
            <c:extLst>
              <c:ext xmlns:c16="http://schemas.microsoft.com/office/drawing/2014/chart" uri="{C3380CC4-5D6E-409C-BE32-E72D297353CC}">
                <c16:uniqueId val="{0000000B-C75F-4042-97A0-B5CA1C6843CE}"/>
              </c:ext>
            </c:extLst>
          </c:dPt>
          <c:dLbls>
            <c:numFmt formatCode="#,##0" sourceLinked="0"/>
            <c:spPr>
              <a:noFill/>
              <a:ln>
                <a:noFill/>
              </a:ln>
              <a:effectLst/>
            </c:spPr>
            <c:txPr>
              <a:bodyPr/>
              <a:lstStyle/>
              <a:p>
                <a:pPr>
                  <a:defRPr sz="800" b="1" i="0" u="none" strike="noStrike">
                    <a:solidFill>
                      <a:srgbClr val="FFFFFF"/>
                    </a:solidFill>
                    <a:latin typeface="Arial"/>
                  </a:defRPr>
                </a:pPr>
                <a:endParaRPr lang="en-LK"/>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&lt;$1K</c:v>
                </c:pt>
                <c:pt idx="1">
                  <c:v>$1–3K</c:v>
                </c:pt>
                <c:pt idx="2">
                  <c:v>$3–8K</c:v>
                </c:pt>
                <c:pt idx="3">
                  <c:v>$8–20K</c:v>
                </c:pt>
                <c:pt idx="4">
                  <c:v>$20–50K</c:v>
                </c:pt>
                <c:pt idx="5">
                  <c:v>&gt;$50K</c:v>
                </c:pt>
              </c:strCache>
            </c:strRef>
          </c:cat>
          <c:val>
            <c:numRef>
              <c:f>Sheet1!$B$2:$B$7</c:f>
              <c:numCache>
                <c:formatCode>General</c:formatCode>
                <c:ptCount val="6"/>
                <c:pt idx="0">
                  <c:v>58</c:v>
                </c:pt>
                <c:pt idx="1">
                  <c:v>66.8</c:v>
                </c:pt>
                <c:pt idx="2">
                  <c:v>70.900000000000006</c:v>
                </c:pt>
                <c:pt idx="3">
                  <c:v>74.599999999999994</c:v>
                </c:pt>
                <c:pt idx="4">
                  <c:v>78.2</c:v>
                </c:pt>
                <c:pt idx="5">
                  <c:v>81.5</c:v>
                </c:pt>
              </c:numCache>
            </c:numRef>
          </c:val>
          <c:extLst>
            <c:ext xmlns:c16="http://schemas.microsoft.com/office/drawing/2014/chart" uri="{C3380CC4-5D6E-409C-BE32-E72D297353CC}">
              <c16:uniqueId val="{0000000C-C75F-4042-97A0-B5CA1C6843CE}"/>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750" b="0" i="0" u="none" strike="noStrike">
                    <a:solidFill>
                      <a:srgbClr val="5A6472"/>
                    </a:solidFill>
                    <a:latin typeface="Arial"/>
                  </a:defRPr>
                </a:pPr>
                <a:r>
                  <a:rPr lang="en-GB" sz="750" b="0" i="0" u="none" strike="noStrike">
                    <a:solidFill>
                      <a:srgbClr val="5A6472"/>
                    </a:solidFill>
                    <a:latin typeface="Arial"/>
                  </a:rPr>
                  <a:t>GDP per capita band (USD)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5A6472"/>
                </a:solidFill>
                <a:latin typeface="Arial"/>
              </a:defRPr>
            </a:pPr>
            <a:endParaRPr lang="en-US"/>
          </a:p>
        </c:txPr>
        <c:crossAx val="2094734552"/>
        <c:crosses val="autoZero"/>
        <c:auto val="1"/>
        <c:lblAlgn val="ctr"/>
        <c:lblOffset val="100"/>
        <c:noMultiLvlLbl val="1"/>
      </c:catAx>
      <c:valAx>
        <c:axId val="2094734552"/>
        <c:scaling>
          <c:orientation val="minMax"/>
          <c:max val="88"/>
          <c:min val="50"/>
        </c:scaling>
        <c:delete val="0"/>
        <c:axPos val="l"/>
        <c:majorGridlines>
          <c:spPr>
            <a:ln w="6350" cap="flat">
              <a:solidFill>
                <a:srgbClr val="EEEEEE"/>
              </a:solidFill>
              <a:prstDash val="solid"/>
              <a:round/>
            </a:ln>
          </c:spPr>
        </c:majorGridlines>
        <c:title>
          <c:tx>
            <c:rich>
              <a:bodyPr/>
              <a:lstStyle/>
              <a:p>
                <a:pPr>
                  <a:defRPr sz="750" b="0" i="0" u="none" strike="noStrike">
                    <a:solidFill>
                      <a:srgbClr val="5A6472"/>
                    </a:solidFill>
                    <a:latin typeface="Arial"/>
                  </a:defRPr>
                </a:pPr>
                <a:r>
                  <a:rPr lang="en-GB" sz="750" b="0" i="0" u="none" strike="noStrike">
                    <a:solidFill>
                      <a:srgbClr val="5A6472"/>
                    </a:solidFill>
                    <a:latin typeface="Arial"/>
                  </a:rPr>
                  <a:t>Life expectancy (yrs)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5A6472"/>
                </a:solidFill>
                <a:latin typeface="Arial"/>
              </a:defRPr>
            </a:pPr>
            <a:endParaRPr lang="en-US"/>
          </a:p>
        </c:txPr>
        <c:crossAx val="2094734554"/>
        <c:crosses val="autoZero"/>
        <c:crossBetween val="between"/>
        <c:majorUnit val="10"/>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Median life expectancy</c:v>
                </c:pt>
              </c:strCache>
            </c:strRef>
          </c:tx>
          <c:spPr>
            <a:solidFill>
              <a:srgbClr val="B83227"/>
            </a:solidFill>
            <a:effectLst/>
          </c:spPr>
          <c:invertIfNegative val="0"/>
          <c:dPt>
            <c:idx val="0"/>
            <c:invertIfNegative val="0"/>
            <c:bubble3D val="0"/>
            <c:extLst>
              <c:ext xmlns:c16="http://schemas.microsoft.com/office/drawing/2014/chart" uri="{C3380CC4-5D6E-409C-BE32-E72D297353CC}">
                <c16:uniqueId val="{00000001-24CD-7A44-AA57-A12E909DBBBB}"/>
              </c:ext>
            </c:extLst>
          </c:dPt>
          <c:dPt>
            <c:idx val="1"/>
            <c:invertIfNegative val="0"/>
            <c:bubble3D val="0"/>
            <c:spPr>
              <a:solidFill>
                <a:srgbClr val="C8790C"/>
              </a:solidFill>
              <a:effectLst/>
            </c:spPr>
            <c:extLst>
              <c:ext xmlns:c16="http://schemas.microsoft.com/office/drawing/2014/chart" uri="{C3380CC4-5D6E-409C-BE32-E72D297353CC}">
                <c16:uniqueId val="{00000003-24CD-7A44-AA57-A12E909DBBBB}"/>
              </c:ext>
            </c:extLst>
          </c:dPt>
          <c:dPt>
            <c:idx val="2"/>
            <c:invertIfNegative val="0"/>
            <c:bubble3D val="0"/>
            <c:spPr>
              <a:solidFill>
                <a:srgbClr val="2E8B57"/>
              </a:solidFill>
              <a:effectLst/>
            </c:spPr>
            <c:extLst>
              <c:ext xmlns:c16="http://schemas.microsoft.com/office/drawing/2014/chart" uri="{C3380CC4-5D6E-409C-BE32-E72D297353CC}">
                <c16:uniqueId val="{00000005-24CD-7A44-AA57-A12E909DBBBB}"/>
              </c:ext>
            </c:extLst>
          </c:dPt>
          <c:dPt>
            <c:idx val="3"/>
            <c:invertIfNegative val="0"/>
            <c:bubble3D val="0"/>
            <c:spPr>
              <a:solidFill>
                <a:srgbClr val="0E7C7B"/>
              </a:solidFill>
              <a:effectLst/>
            </c:spPr>
            <c:extLst>
              <c:ext xmlns:c16="http://schemas.microsoft.com/office/drawing/2014/chart" uri="{C3380CC4-5D6E-409C-BE32-E72D297353CC}">
                <c16:uniqueId val="{00000007-24CD-7A44-AA57-A12E909DBBBB}"/>
              </c:ext>
            </c:extLst>
          </c:dPt>
          <c:dLbls>
            <c:numFmt formatCode="#,##0" sourceLinked="0"/>
            <c:spPr>
              <a:noFill/>
              <a:ln>
                <a:noFill/>
              </a:ln>
              <a:effectLst/>
            </c:spPr>
            <c:txPr>
              <a:bodyPr/>
              <a:lstStyle/>
              <a:p>
                <a:pPr>
                  <a:defRPr sz="800" b="1" i="0" u="none" strike="noStrike">
                    <a:solidFill>
                      <a:srgbClr val="FFFFFF"/>
                    </a:solidFill>
                    <a:latin typeface="Arial"/>
                  </a:defRPr>
                </a:pPr>
                <a:endParaRPr lang="en-L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c:v>
                </c:pt>
                <c:pt idx="1">
                  <c:v>Lower-mid</c:v>
                </c:pt>
                <c:pt idx="2">
                  <c:v>Upper-mid</c:v>
                </c:pt>
                <c:pt idx="3">
                  <c:v>High</c:v>
                </c:pt>
              </c:strCache>
            </c:strRef>
          </c:cat>
          <c:val>
            <c:numRef>
              <c:f>Sheet1!$B$2:$B$5</c:f>
              <c:numCache>
                <c:formatCode>General</c:formatCode>
                <c:ptCount val="4"/>
                <c:pt idx="0">
                  <c:v>61.2</c:v>
                </c:pt>
                <c:pt idx="1">
                  <c:v>69.8</c:v>
                </c:pt>
                <c:pt idx="2">
                  <c:v>74.7</c:v>
                </c:pt>
                <c:pt idx="3">
                  <c:v>79.599999999999994</c:v>
                </c:pt>
              </c:numCache>
            </c:numRef>
          </c:val>
          <c:extLst>
            <c:ext xmlns:c16="http://schemas.microsoft.com/office/drawing/2014/chart" uri="{C3380CC4-5D6E-409C-BE32-E72D297353CC}">
              <c16:uniqueId val="{00000008-24CD-7A44-AA57-A12E909DBBB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50" b="0" i="0" u="none" strike="noStrike">
                <a:solidFill>
                  <a:srgbClr val="5A6472"/>
                </a:solidFill>
                <a:latin typeface="Arial"/>
              </a:defRPr>
            </a:pPr>
            <a:endParaRPr lang="en-US"/>
          </a:p>
        </c:txPr>
        <c:crossAx val="2094734552"/>
        <c:crosses val="autoZero"/>
        <c:auto val="1"/>
        <c:lblAlgn val="ctr"/>
        <c:lblOffset val="100"/>
        <c:noMultiLvlLbl val="1"/>
      </c:catAx>
      <c:valAx>
        <c:axId val="2094734552"/>
        <c:scaling>
          <c:orientation val="minMax"/>
          <c:max val="85"/>
          <c:min val="50"/>
        </c:scaling>
        <c:delete val="0"/>
        <c:axPos val="b"/>
        <c:majorGridlines>
          <c:spPr>
            <a:ln w="635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5A6472"/>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Sub-Saharan Africa</c:v>
                </c:pt>
              </c:strCache>
            </c:strRef>
          </c:tx>
          <c:spPr>
            <a:ln w="25400" cap="flat">
              <a:solidFill>
                <a:srgbClr val="C8790C"/>
              </a:solidFill>
              <a:prstDash val="solid"/>
              <a:round/>
            </a:ln>
            <a:effectLst/>
          </c:spPr>
          <c:marker>
            <c:symbol val="none"/>
          </c:marker>
          <c:cat>
            <c:strRef>
              <c:f>Sheet1!$A$2:$A$10</c:f>
              <c:strCache>
                <c:ptCount val="9"/>
                <c:pt idx="0">
                  <c:v>1990</c:v>
                </c:pt>
                <c:pt idx="1">
                  <c:v>1995</c:v>
                </c:pt>
                <c:pt idx="2">
                  <c:v>2000</c:v>
                </c:pt>
                <c:pt idx="3">
                  <c:v>2005</c:v>
                </c:pt>
                <c:pt idx="4">
                  <c:v>2010</c:v>
                </c:pt>
                <c:pt idx="5">
                  <c:v>2015</c:v>
                </c:pt>
                <c:pt idx="6">
                  <c:v>2019</c:v>
                </c:pt>
                <c:pt idx="7">
                  <c:v>2021</c:v>
                </c:pt>
                <c:pt idx="8">
                  <c:v>2022</c:v>
                </c:pt>
              </c:strCache>
            </c:strRef>
          </c:cat>
          <c:val>
            <c:numRef>
              <c:f>Sheet1!$B$2:$B$10</c:f>
              <c:numCache>
                <c:formatCode>General</c:formatCode>
                <c:ptCount val="9"/>
                <c:pt idx="0">
                  <c:v>50.3</c:v>
                </c:pt>
                <c:pt idx="1">
                  <c:v>50.1</c:v>
                </c:pt>
                <c:pt idx="2">
                  <c:v>51.1</c:v>
                </c:pt>
                <c:pt idx="3">
                  <c:v>54.6</c:v>
                </c:pt>
                <c:pt idx="4">
                  <c:v>57.8</c:v>
                </c:pt>
                <c:pt idx="5">
                  <c:v>60.2</c:v>
                </c:pt>
                <c:pt idx="6">
                  <c:v>62.5</c:v>
                </c:pt>
                <c:pt idx="7">
                  <c:v>60.9</c:v>
                </c:pt>
                <c:pt idx="8">
                  <c:v>63.6</c:v>
                </c:pt>
              </c:numCache>
            </c:numRef>
          </c:val>
          <c:smooth val="0"/>
          <c:extLst>
            <c:ext xmlns:c16="http://schemas.microsoft.com/office/drawing/2014/chart" uri="{C3380CC4-5D6E-409C-BE32-E72D297353CC}">
              <c16:uniqueId val="{00000000-8E8E-9D4E-B734-49D44C21DD3E}"/>
            </c:ext>
          </c:extLst>
        </c:ser>
        <c:ser>
          <c:idx val="1"/>
          <c:order val="1"/>
          <c:tx>
            <c:strRef>
              <c:f>Sheet1!$C$1</c:f>
              <c:strCache>
                <c:ptCount val="1"/>
                <c:pt idx="0">
                  <c:v>South Asia</c:v>
                </c:pt>
              </c:strCache>
            </c:strRef>
          </c:tx>
          <c:spPr>
            <a:ln w="25400" cap="flat">
              <a:solidFill>
                <a:srgbClr val="1C7A47"/>
              </a:solidFill>
              <a:prstDash val="solid"/>
              <a:round/>
            </a:ln>
            <a:effectLst/>
          </c:spPr>
          <c:marker>
            <c:symbol val="none"/>
          </c:marker>
          <c:cat>
            <c:strRef>
              <c:f>Sheet1!$A$2:$A$10</c:f>
              <c:strCache>
                <c:ptCount val="9"/>
                <c:pt idx="0">
                  <c:v>1990</c:v>
                </c:pt>
                <c:pt idx="1">
                  <c:v>1995</c:v>
                </c:pt>
                <c:pt idx="2">
                  <c:v>2000</c:v>
                </c:pt>
                <c:pt idx="3">
                  <c:v>2005</c:v>
                </c:pt>
                <c:pt idx="4">
                  <c:v>2010</c:v>
                </c:pt>
                <c:pt idx="5">
                  <c:v>2015</c:v>
                </c:pt>
                <c:pt idx="6">
                  <c:v>2019</c:v>
                </c:pt>
                <c:pt idx="7">
                  <c:v>2021</c:v>
                </c:pt>
                <c:pt idx="8">
                  <c:v>2022</c:v>
                </c:pt>
              </c:strCache>
            </c:strRef>
          </c:cat>
          <c:val>
            <c:numRef>
              <c:f>Sheet1!$C$2:$C$10</c:f>
              <c:numCache>
                <c:formatCode>General</c:formatCode>
                <c:ptCount val="9"/>
                <c:pt idx="0">
                  <c:v>58.2</c:v>
                </c:pt>
                <c:pt idx="1">
                  <c:v>60.1</c:v>
                </c:pt>
                <c:pt idx="2">
                  <c:v>62.3</c:v>
                </c:pt>
                <c:pt idx="3">
                  <c:v>64.8</c:v>
                </c:pt>
                <c:pt idx="4">
                  <c:v>67.2</c:v>
                </c:pt>
                <c:pt idx="5">
                  <c:v>69.5</c:v>
                </c:pt>
                <c:pt idx="6">
                  <c:v>71.8</c:v>
                </c:pt>
                <c:pt idx="7">
                  <c:v>70.2</c:v>
                </c:pt>
                <c:pt idx="8">
                  <c:v>72.8</c:v>
                </c:pt>
              </c:numCache>
            </c:numRef>
          </c:val>
          <c:smooth val="0"/>
          <c:extLst>
            <c:ext xmlns:c16="http://schemas.microsoft.com/office/drawing/2014/chart" uri="{C3380CC4-5D6E-409C-BE32-E72D297353CC}">
              <c16:uniqueId val="{00000001-8E8E-9D4E-B734-49D44C21DD3E}"/>
            </c:ext>
          </c:extLst>
        </c:ser>
        <c:ser>
          <c:idx val="2"/>
          <c:order val="2"/>
          <c:tx>
            <c:strRef>
              <c:f>Sheet1!$D$1</c:f>
              <c:strCache>
                <c:ptCount val="1"/>
                <c:pt idx="0">
                  <c:v>Lat. Am. &amp; Carib.</c:v>
                </c:pt>
              </c:strCache>
            </c:strRef>
          </c:tx>
          <c:spPr>
            <a:ln w="25400" cap="flat">
              <a:solidFill>
                <a:srgbClr val="163560"/>
              </a:solidFill>
              <a:prstDash val="solid"/>
              <a:round/>
            </a:ln>
            <a:effectLst/>
          </c:spPr>
          <c:marker>
            <c:symbol val="none"/>
          </c:marker>
          <c:cat>
            <c:strRef>
              <c:f>Sheet1!$A$2:$A$10</c:f>
              <c:strCache>
                <c:ptCount val="9"/>
                <c:pt idx="0">
                  <c:v>1990</c:v>
                </c:pt>
                <c:pt idx="1">
                  <c:v>1995</c:v>
                </c:pt>
                <c:pt idx="2">
                  <c:v>2000</c:v>
                </c:pt>
                <c:pt idx="3">
                  <c:v>2005</c:v>
                </c:pt>
                <c:pt idx="4">
                  <c:v>2010</c:v>
                </c:pt>
                <c:pt idx="5">
                  <c:v>2015</c:v>
                </c:pt>
                <c:pt idx="6">
                  <c:v>2019</c:v>
                </c:pt>
                <c:pt idx="7">
                  <c:v>2021</c:v>
                </c:pt>
                <c:pt idx="8">
                  <c:v>2022</c:v>
                </c:pt>
              </c:strCache>
            </c:strRef>
          </c:cat>
          <c:val>
            <c:numRef>
              <c:f>Sheet1!$D$2:$D$10</c:f>
              <c:numCache>
                <c:formatCode>General</c:formatCode>
                <c:ptCount val="9"/>
                <c:pt idx="0">
                  <c:v>68.099999999999994</c:v>
                </c:pt>
                <c:pt idx="1">
                  <c:v>70</c:v>
                </c:pt>
                <c:pt idx="2">
                  <c:v>71.5</c:v>
                </c:pt>
                <c:pt idx="3">
                  <c:v>72.8</c:v>
                </c:pt>
                <c:pt idx="4">
                  <c:v>74</c:v>
                </c:pt>
                <c:pt idx="5">
                  <c:v>75.2</c:v>
                </c:pt>
                <c:pt idx="6">
                  <c:v>75.900000000000006</c:v>
                </c:pt>
                <c:pt idx="7">
                  <c:v>73.400000000000006</c:v>
                </c:pt>
                <c:pt idx="8">
                  <c:v>74.5</c:v>
                </c:pt>
              </c:numCache>
            </c:numRef>
          </c:val>
          <c:smooth val="0"/>
          <c:extLst>
            <c:ext xmlns:c16="http://schemas.microsoft.com/office/drawing/2014/chart" uri="{C3380CC4-5D6E-409C-BE32-E72D297353CC}">
              <c16:uniqueId val="{00000002-8E8E-9D4E-B734-49D44C21DD3E}"/>
            </c:ext>
          </c:extLst>
        </c:ser>
        <c:ser>
          <c:idx val="3"/>
          <c:order val="3"/>
          <c:tx>
            <c:strRef>
              <c:f>Sheet1!$E$1</c:f>
              <c:strCache>
                <c:ptCount val="1"/>
                <c:pt idx="0">
                  <c:v>Europe &amp; C. Asia</c:v>
                </c:pt>
              </c:strCache>
            </c:strRef>
          </c:tx>
          <c:spPr>
            <a:ln w="25400" cap="flat">
              <a:solidFill>
                <a:srgbClr val="0E7C7B"/>
              </a:solidFill>
              <a:prstDash val="solid"/>
              <a:round/>
            </a:ln>
            <a:effectLst/>
          </c:spPr>
          <c:marker>
            <c:symbol val="none"/>
          </c:marker>
          <c:cat>
            <c:strRef>
              <c:f>Sheet1!$A$2:$A$10</c:f>
              <c:strCache>
                <c:ptCount val="9"/>
                <c:pt idx="0">
                  <c:v>1990</c:v>
                </c:pt>
                <c:pt idx="1">
                  <c:v>1995</c:v>
                </c:pt>
                <c:pt idx="2">
                  <c:v>2000</c:v>
                </c:pt>
                <c:pt idx="3">
                  <c:v>2005</c:v>
                </c:pt>
                <c:pt idx="4">
                  <c:v>2010</c:v>
                </c:pt>
                <c:pt idx="5">
                  <c:v>2015</c:v>
                </c:pt>
                <c:pt idx="6">
                  <c:v>2019</c:v>
                </c:pt>
                <c:pt idx="7">
                  <c:v>2021</c:v>
                </c:pt>
                <c:pt idx="8">
                  <c:v>2022</c:v>
                </c:pt>
              </c:strCache>
            </c:strRef>
          </c:cat>
          <c:val>
            <c:numRef>
              <c:f>Sheet1!$E$2:$E$10</c:f>
              <c:numCache>
                <c:formatCode>General</c:formatCode>
                <c:ptCount val="9"/>
                <c:pt idx="0">
                  <c:v>70.2</c:v>
                </c:pt>
                <c:pt idx="1">
                  <c:v>70</c:v>
                </c:pt>
                <c:pt idx="2">
                  <c:v>70.8</c:v>
                </c:pt>
                <c:pt idx="3">
                  <c:v>71.8</c:v>
                </c:pt>
                <c:pt idx="4">
                  <c:v>73.400000000000006</c:v>
                </c:pt>
                <c:pt idx="5">
                  <c:v>75</c:v>
                </c:pt>
                <c:pt idx="6">
                  <c:v>76.8</c:v>
                </c:pt>
                <c:pt idx="7">
                  <c:v>74.5</c:v>
                </c:pt>
                <c:pt idx="8">
                  <c:v>76.900000000000006</c:v>
                </c:pt>
              </c:numCache>
            </c:numRef>
          </c:val>
          <c:smooth val="0"/>
          <c:extLst>
            <c:ext xmlns:c16="http://schemas.microsoft.com/office/drawing/2014/chart" uri="{C3380CC4-5D6E-409C-BE32-E72D297353CC}">
              <c16:uniqueId val="{00000003-8E8E-9D4E-B734-49D44C21DD3E}"/>
            </c:ext>
          </c:extLst>
        </c:ser>
        <c:ser>
          <c:idx val="4"/>
          <c:order val="4"/>
          <c:tx>
            <c:strRef>
              <c:f>Sheet1!$F$1</c:f>
              <c:strCache>
                <c:ptCount val="1"/>
                <c:pt idx="0">
                  <c:v>Global mean</c:v>
                </c:pt>
              </c:strCache>
            </c:strRef>
          </c:tx>
          <c:spPr>
            <a:ln w="25400" cap="flat">
              <a:solidFill>
                <a:srgbClr val="888888"/>
              </a:solidFill>
              <a:prstDash val="solid"/>
              <a:round/>
            </a:ln>
            <a:effectLst/>
          </c:spPr>
          <c:marker>
            <c:symbol val="none"/>
          </c:marker>
          <c:cat>
            <c:strRef>
              <c:f>Sheet1!$A$2:$A$10</c:f>
              <c:strCache>
                <c:ptCount val="9"/>
                <c:pt idx="0">
                  <c:v>1990</c:v>
                </c:pt>
                <c:pt idx="1">
                  <c:v>1995</c:v>
                </c:pt>
                <c:pt idx="2">
                  <c:v>2000</c:v>
                </c:pt>
                <c:pt idx="3">
                  <c:v>2005</c:v>
                </c:pt>
                <c:pt idx="4">
                  <c:v>2010</c:v>
                </c:pt>
                <c:pt idx="5">
                  <c:v>2015</c:v>
                </c:pt>
                <c:pt idx="6">
                  <c:v>2019</c:v>
                </c:pt>
                <c:pt idx="7">
                  <c:v>2021</c:v>
                </c:pt>
                <c:pt idx="8">
                  <c:v>2022</c:v>
                </c:pt>
              </c:strCache>
            </c:strRef>
          </c:cat>
          <c:val>
            <c:numRef>
              <c:f>Sheet1!$F$2:$F$10</c:f>
              <c:numCache>
                <c:formatCode>General</c:formatCode>
                <c:ptCount val="9"/>
                <c:pt idx="0">
                  <c:v>64.2</c:v>
                </c:pt>
                <c:pt idx="1">
                  <c:v>64.8</c:v>
                </c:pt>
                <c:pt idx="2">
                  <c:v>66.3</c:v>
                </c:pt>
                <c:pt idx="3">
                  <c:v>68.099999999999994</c:v>
                </c:pt>
                <c:pt idx="4">
                  <c:v>70.099999999999994</c:v>
                </c:pt>
                <c:pt idx="5">
                  <c:v>72</c:v>
                </c:pt>
                <c:pt idx="6">
                  <c:v>73.3</c:v>
                </c:pt>
                <c:pt idx="7">
                  <c:v>71.7</c:v>
                </c:pt>
                <c:pt idx="8">
                  <c:v>73.099999999999994</c:v>
                </c:pt>
              </c:numCache>
            </c:numRef>
          </c:val>
          <c:smooth val="0"/>
          <c:extLst>
            <c:ext xmlns:c16="http://schemas.microsoft.com/office/drawing/2014/chart" uri="{C3380CC4-5D6E-409C-BE32-E72D297353CC}">
              <c16:uniqueId val="{00000004-8E8E-9D4E-B734-49D44C21DD3E}"/>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5A6472"/>
                </a:solidFill>
                <a:latin typeface="Arial"/>
              </a:defRPr>
            </a:pPr>
            <a:endParaRPr lang="en-US"/>
          </a:p>
        </c:txPr>
        <c:crossAx val="2094734552"/>
        <c:crosses val="autoZero"/>
        <c:auto val="1"/>
        <c:lblAlgn val="ctr"/>
        <c:lblOffset val="100"/>
        <c:tickLblSkip val="2"/>
        <c:noMultiLvlLbl val="1"/>
      </c:catAx>
      <c:valAx>
        <c:axId val="2094734552"/>
        <c:scaling>
          <c:orientation val="minMax"/>
          <c:max val="85"/>
          <c:min val="45"/>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5A6472"/>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scatterChart>
        <c:scatterStyle val="lineMarker"/>
        <c:varyColors val="0"/>
        <c:ser>
          <c:idx val="0"/>
          <c:order val="0"/>
          <c:tx>
            <c:strRef>
              <c:f>Sheet1!$B$1</c:f>
              <c:strCache>
                <c:ptCount val="1"/>
                <c:pt idx="0">
                  <c:v>Countries</c:v>
                </c:pt>
              </c:strCache>
            </c:strRef>
          </c:tx>
          <c:spPr>
            <a:ln>
              <a:noFill/>
            </a:ln>
            <a:effectLst/>
          </c:spPr>
          <c:marker>
            <c:symbol val="circle"/>
            <c:size val="6"/>
            <c:spPr>
              <a:solidFill>
                <a:srgbClr val="1C7A47"/>
              </a:solidFill>
              <a:ln w="9525" cap="flat">
                <a:solidFill>
                  <a:srgbClr val="1C7A47"/>
                </a:solidFill>
                <a:prstDash val="solid"/>
                <a:round/>
              </a:ln>
              <a:effectLst/>
            </c:spPr>
          </c:marker>
          <c:xVal>
            <c:numRef>
              <c:f>Sheet1!$A$2:$A$18</c:f>
              <c:numCache>
                <c:formatCode>General</c:formatCode>
                <c:ptCount val="17"/>
                <c:pt idx="0">
                  <c:v>54</c:v>
                </c:pt>
                <c:pt idx="1">
                  <c:v>57</c:v>
                </c:pt>
                <c:pt idx="2">
                  <c:v>60</c:v>
                </c:pt>
                <c:pt idx="3">
                  <c:v>62</c:v>
                </c:pt>
                <c:pt idx="4">
                  <c:v>64</c:v>
                </c:pt>
                <c:pt idx="5">
                  <c:v>66</c:v>
                </c:pt>
                <c:pt idx="6">
                  <c:v>68</c:v>
                </c:pt>
                <c:pt idx="7">
                  <c:v>70</c:v>
                </c:pt>
                <c:pt idx="8">
                  <c:v>71</c:v>
                </c:pt>
                <c:pt idx="9">
                  <c:v>73</c:v>
                </c:pt>
                <c:pt idx="10">
                  <c:v>74</c:v>
                </c:pt>
                <c:pt idx="11">
                  <c:v>76</c:v>
                </c:pt>
                <c:pt idx="12">
                  <c:v>77</c:v>
                </c:pt>
                <c:pt idx="13">
                  <c:v>79</c:v>
                </c:pt>
                <c:pt idx="14">
                  <c:v>80</c:v>
                </c:pt>
                <c:pt idx="15">
                  <c:v>82</c:v>
                </c:pt>
                <c:pt idx="16">
                  <c:v>83</c:v>
                </c:pt>
              </c:numCache>
            </c:numRef>
          </c:xVal>
          <c:yVal>
            <c:numRef>
              <c:f>Sheet1!$B$2:$B$18</c:f>
              <c:numCache>
                <c:formatCode>General</c:formatCode>
                <c:ptCount val="17"/>
                <c:pt idx="0">
                  <c:v>2.9</c:v>
                </c:pt>
                <c:pt idx="1">
                  <c:v>2.7</c:v>
                </c:pt>
                <c:pt idx="2">
                  <c:v>2.5</c:v>
                </c:pt>
                <c:pt idx="3">
                  <c:v>2.4</c:v>
                </c:pt>
                <c:pt idx="4">
                  <c:v>2.1</c:v>
                </c:pt>
                <c:pt idx="5">
                  <c:v>1.9</c:v>
                </c:pt>
                <c:pt idx="6">
                  <c:v>1.7</c:v>
                </c:pt>
                <c:pt idx="7">
                  <c:v>1.4</c:v>
                </c:pt>
                <c:pt idx="8">
                  <c:v>1.5</c:v>
                </c:pt>
                <c:pt idx="9">
                  <c:v>1.1000000000000001</c:v>
                </c:pt>
                <c:pt idx="10">
                  <c:v>1</c:v>
                </c:pt>
                <c:pt idx="11">
                  <c:v>0.8</c:v>
                </c:pt>
                <c:pt idx="12">
                  <c:v>0.9</c:v>
                </c:pt>
                <c:pt idx="13">
                  <c:v>0.5</c:v>
                </c:pt>
                <c:pt idx="14">
                  <c:v>0.6</c:v>
                </c:pt>
                <c:pt idx="15">
                  <c:v>0.4</c:v>
                </c:pt>
                <c:pt idx="16">
                  <c:v>0.3</c:v>
                </c:pt>
              </c:numCache>
            </c:numRef>
          </c:yVal>
          <c:smooth val="0"/>
          <c:extLst>
            <c:ext xmlns:c16="http://schemas.microsoft.com/office/drawing/2014/chart" uri="{C3380CC4-5D6E-409C-BE32-E72D297353CC}">
              <c16:uniqueId val="{00000000-8B4D-6447-9D2B-71BEA88BBCA5}"/>
            </c:ext>
          </c:extLst>
        </c:ser>
        <c:dLbls>
          <c:showLegendKey val="0"/>
          <c:showVal val="0"/>
          <c:showCatName val="0"/>
          <c:showSerName val="0"/>
          <c:showPercent val="0"/>
          <c:showBubbleSize val="0"/>
        </c:dLbls>
        <c:axId val="2094734554"/>
        <c:axId val="2094734552"/>
      </c:scatterChart>
      <c:valAx>
        <c:axId val="2094734554"/>
        <c:scaling>
          <c:orientation val="minMax"/>
          <c:max val="85"/>
          <c:min val="50"/>
        </c:scaling>
        <c:delete val="0"/>
        <c:axPos val="b"/>
        <c:title>
          <c:tx>
            <c:rich>
              <a:bodyPr/>
              <a:lstStyle/>
              <a:p>
                <a:pPr>
                  <a:defRPr sz="700" b="0" i="0" u="none" strike="noStrike">
                    <a:solidFill>
                      <a:srgbClr val="5A6472"/>
                    </a:solidFill>
                    <a:latin typeface="Arial"/>
                  </a:defRPr>
                </a:pPr>
                <a:r>
                  <a:rPr lang="en-GB" sz="700" b="0" i="0" u="none" strike="noStrike">
                    <a:solidFill>
                      <a:srgbClr val="5A6472"/>
                    </a:solidFill>
                    <a:latin typeface="Arial"/>
                  </a:rPr>
                  <a:t>Life expectancy (yrs)</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700" b="0" i="0" u="none" strike="noStrike">
                <a:solidFill>
                  <a:srgbClr val="5A6472"/>
                </a:solidFill>
                <a:latin typeface="Arial"/>
              </a:defRPr>
            </a:pPr>
            <a:endParaRPr lang="en-US"/>
          </a:p>
        </c:txPr>
        <c:crossAx val="2094734552"/>
        <c:crosses val="autoZero"/>
        <c:crossBetween val="midCat"/>
        <c:majorUnit val="10"/>
      </c:valAx>
      <c:valAx>
        <c:axId val="2094734552"/>
        <c:scaling>
          <c:orientation val="minMax"/>
          <c:max val="3"/>
          <c:min val="0"/>
        </c:scaling>
        <c:delete val="0"/>
        <c:axPos val="l"/>
        <c:majorGridlines>
          <c:spPr>
            <a:ln w="6350" cap="flat">
              <a:solidFill>
                <a:srgbClr val="EEEEEE"/>
              </a:solidFill>
              <a:prstDash val="solid"/>
              <a:round/>
            </a:ln>
          </c:spPr>
        </c:majorGridlines>
        <c:title>
          <c:tx>
            <c:rich>
              <a:bodyPr/>
              <a:lstStyle/>
              <a:p>
                <a:pPr>
                  <a:defRPr sz="700" b="0" i="0" u="none" strike="noStrike">
                    <a:solidFill>
                      <a:srgbClr val="5A6472"/>
                    </a:solidFill>
                    <a:latin typeface="Arial"/>
                  </a:defRPr>
                </a:pPr>
                <a:r>
                  <a:rPr lang="en-GB" sz="700" b="0" i="0" u="none" strike="noStrike">
                    <a:solidFill>
                      <a:srgbClr val="5A6472"/>
                    </a:solidFill>
                    <a:latin typeface="Arial"/>
                  </a:rPr>
                  <a:t>Pop. growth (%/yr)</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700" b="0" i="0" u="none" strike="noStrike">
                <a:solidFill>
                  <a:srgbClr val="5A6472"/>
                </a:solidFill>
                <a:latin typeface="Arial"/>
              </a:defRPr>
            </a:pPr>
            <a:endParaRPr lang="en-US"/>
          </a:p>
        </c:txPr>
        <c:crossAx val="2094734554"/>
        <c:crosses val="autoZero"/>
        <c:crossBetween val="midCat"/>
        <c:majorUnit val="1"/>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55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7055708"/>
          </a:xfrm>
          <a:prstGeom prst="rect">
            <a:avLst/>
          </a:prstGeom>
          <a:solidFill>
            <a:srgbClr val="FFFFFF"/>
          </a:solidFill>
          <a:ln w="12700">
            <a:solidFill>
              <a:srgbClr val="FFFFFF"/>
            </a:solidFill>
            <a:prstDash val="solid"/>
          </a:ln>
        </p:spPr>
        <p:txBody>
          <a:bodyPr/>
          <a:lstStyle/>
          <a:p>
            <a:endParaRPr lang="en-LK" dirty="0"/>
          </a:p>
        </p:txBody>
      </p:sp>
      <p:sp>
        <p:nvSpPr>
          <p:cNvPr id="3" name="Shape 1"/>
          <p:cNvSpPr/>
          <p:nvPr/>
        </p:nvSpPr>
        <p:spPr>
          <a:xfrm>
            <a:off x="0" y="0"/>
            <a:ext cx="12191695" cy="45720"/>
          </a:xfrm>
          <a:prstGeom prst="rect">
            <a:avLst/>
          </a:prstGeom>
          <a:solidFill>
            <a:schemeClr val="accent1"/>
          </a:solidFill>
          <a:ln w="12700">
            <a:solidFill>
              <a:srgbClr val="C9A227"/>
            </a:solidFill>
            <a:prstDash val="solid"/>
          </a:ln>
        </p:spPr>
        <p:txBody>
          <a:bodyPr/>
          <a:lstStyle/>
          <a:p>
            <a:endParaRPr lang="en-LK"/>
          </a:p>
        </p:txBody>
      </p:sp>
      <p:sp>
        <p:nvSpPr>
          <p:cNvPr id="4" name="Shape 2"/>
          <p:cNvSpPr/>
          <p:nvPr/>
        </p:nvSpPr>
        <p:spPr>
          <a:xfrm>
            <a:off x="-1" y="12604"/>
            <a:ext cx="12191695" cy="714344"/>
          </a:xfrm>
          <a:prstGeom prst="rect">
            <a:avLst/>
          </a:prstGeom>
          <a:solidFill>
            <a:srgbClr val="163560"/>
          </a:solidFill>
          <a:ln w="12700">
            <a:solidFill>
              <a:srgbClr val="163560"/>
            </a:solidFill>
            <a:prstDash val="solid"/>
          </a:ln>
        </p:spPr>
        <p:txBody>
          <a:bodyPr/>
          <a:lstStyle/>
          <a:p>
            <a:endParaRPr lang="en-LK"/>
          </a:p>
        </p:txBody>
      </p:sp>
      <p:sp>
        <p:nvSpPr>
          <p:cNvPr id="5" name="Text 3"/>
          <p:cNvSpPr/>
          <p:nvPr/>
        </p:nvSpPr>
        <p:spPr>
          <a:xfrm>
            <a:off x="274320" y="91440"/>
            <a:ext cx="7863840" cy="365760"/>
          </a:xfrm>
          <a:prstGeom prst="rect">
            <a:avLst/>
          </a:prstGeom>
          <a:noFill/>
          <a:ln/>
        </p:spPr>
        <p:txBody>
          <a:bodyPr wrap="square" lIns="0" tIns="0" rIns="0" bIns="0" rtlCol="0" anchor="ctr"/>
          <a:lstStyle/>
          <a:p>
            <a:pPr marL="0" indent="0">
              <a:buNone/>
            </a:pPr>
            <a:r>
              <a:rPr lang="en-US" sz="2100" b="1" dirty="0">
                <a:solidFill>
                  <a:srgbClr val="FFFFFF"/>
                </a:solidFill>
                <a:latin typeface="Georgia" pitchFamily="34" charset="0"/>
                <a:ea typeface="Georgia" pitchFamily="34" charset="-122"/>
                <a:cs typeface="Georgia" pitchFamily="34" charset="-120"/>
              </a:rPr>
              <a:t>Wealth, Health and Growth</a:t>
            </a:r>
            <a:endParaRPr lang="en-US" sz="2100" dirty="0"/>
          </a:p>
        </p:txBody>
      </p:sp>
      <p:sp>
        <p:nvSpPr>
          <p:cNvPr id="6" name="Text 4"/>
          <p:cNvSpPr/>
          <p:nvPr/>
        </p:nvSpPr>
        <p:spPr>
          <a:xfrm>
            <a:off x="274320" y="448056"/>
            <a:ext cx="7863840" cy="219456"/>
          </a:xfrm>
          <a:prstGeom prst="rect">
            <a:avLst/>
          </a:prstGeom>
          <a:noFill/>
          <a:ln/>
        </p:spPr>
        <p:txBody>
          <a:bodyPr wrap="square" lIns="0" tIns="0" rIns="0" bIns="0" rtlCol="0" anchor="ctr"/>
          <a:lstStyle/>
          <a:p>
            <a:pPr marL="0" indent="0">
              <a:buNone/>
            </a:pPr>
            <a:r>
              <a:rPr lang="en-US" sz="1100" i="1" dirty="0">
                <a:solidFill>
                  <a:srgbClr val="AFCBEC"/>
                </a:solidFill>
                <a:latin typeface="Georgia" pitchFamily="34" charset="0"/>
                <a:ea typeface="Georgia" pitchFamily="34" charset="-122"/>
                <a:cs typeface="Georgia" pitchFamily="34" charset="-120"/>
              </a:rPr>
              <a:t>A Visual Analysis of the World Bank WDI Dataset, 1990–2022</a:t>
            </a:r>
            <a:endParaRPr lang="en-US" sz="1100" dirty="0"/>
          </a:p>
        </p:txBody>
      </p:sp>
      <p:sp>
        <p:nvSpPr>
          <p:cNvPr id="7" name="Shape 5"/>
          <p:cNvSpPr/>
          <p:nvPr/>
        </p:nvSpPr>
        <p:spPr>
          <a:xfrm>
            <a:off x="10372037" y="124016"/>
            <a:ext cx="1545337" cy="493776"/>
          </a:xfrm>
          <a:prstGeom prst="rect">
            <a:avLst/>
          </a:prstGeom>
          <a:solidFill>
            <a:srgbClr val="FFFFFF"/>
          </a:solidFill>
          <a:ln w="12700">
            <a:solidFill>
              <a:srgbClr val="FFFFFF"/>
            </a:solidFill>
            <a:prstDash val="solid"/>
          </a:ln>
        </p:spPr>
        <p:txBody>
          <a:bodyPr/>
          <a:lstStyle/>
          <a:p>
            <a:endParaRPr lang="en-LK" dirty="0"/>
          </a:p>
        </p:txBody>
      </p:sp>
      <p:sp>
        <p:nvSpPr>
          <p:cNvPr id="8" name="Text 6"/>
          <p:cNvSpPr/>
          <p:nvPr/>
        </p:nvSpPr>
        <p:spPr>
          <a:xfrm>
            <a:off x="9677095" y="137160"/>
            <a:ext cx="475488" cy="457200"/>
          </a:xfrm>
          <a:prstGeom prst="rect">
            <a:avLst/>
          </a:prstGeom>
          <a:noFill/>
          <a:ln/>
        </p:spPr>
        <p:txBody>
          <a:bodyPr wrap="square" lIns="0" tIns="0" rIns="0" bIns="0" rtlCol="0" anchor="ctr"/>
          <a:lstStyle/>
          <a:p>
            <a:pPr marL="0" indent="0" algn="ctr">
              <a:buNone/>
            </a:pPr>
            <a:endParaRPr lang="en-US" sz="900" dirty="0"/>
          </a:p>
        </p:txBody>
      </p:sp>
      <p:sp>
        <p:nvSpPr>
          <p:cNvPr id="10" name="Text 8"/>
          <p:cNvSpPr/>
          <p:nvPr/>
        </p:nvSpPr>
        <p:spPr>
          <a:xfrm>
            <a:off x="10298887" y="118872"/>
            <a:ext cx="1545336" cy="475488"/>
          </a:xfrm>
          <a:prstGeom prst="rect">
            <a:avLst/>
          </a:prstGeom>
          <a:noFill/>
          <a:ln/>
        </p:spPr>
        <p:txBody>
          <a:bodyPr wrap="square" lIns="0" tIns="0" rIns="0" bIns="0" rtlCol="0" anchor="ctr"/>
          <a:lstStyle/>
          <a:p>
            <a:pPr marL="0" indent="0">
              <a:lnSpc>
                <a:spcPct val="92000"/>
              </a:lnSpc>
              <a:buNone/>
            </a:pPr>
            <a:endParaRPr lang="en-US" sz="1100" dirty="0"/>
          </a:p>
        </p:txBody>
      </p:sp>
      <p:sp>
        <p:nvSpPr>
          <p:cNvPr id="11" name="Text 9"/>
          <p:cNvSpPr/>
          <p:nvPr/>
        </p:nvSpPr>
        <p:spPr>
          <a:xfrm>
            <a:off x="274320" y="896112"/>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INTRODUCTION</a:t>
            </a:r>
            <a:endParaRPr lang="en-US" sz="1050" dirty="0"/>
          </a:p>
        </p:txBody>
      </p:sp>
      <p:sp>
        <p:nvSpPr>
          <p:cNvPr id="12" name="Shape 10"/>
          <p:cNvSpPr/>
          <p:nvPr/>
        </p:nvSpPr>
        <p:spPr>
          <a:xfrm>
            <a:off x="274320" y="1129284"/>
            <a:ext cx="2746172" cy="20117"/>
          </a:xfrm>
          <a:prstGeom prst="rect">
            <a:avLst/>
          </a:prstGeom>
          <a:solidFill>
            <a:srgbClr val="163560"/>
          </a:solidFill>
          <a:ln w="12700">
            <a:solidFill>
              <a:srgbClr val="163560"/>
            </a:solidFill>
            <a:prstDash val="solid"/>
          </a:ln>
        </p:spPr>
        <p:txBody>
          <a:bodyPr/>
          <a:lstStyle/>
          <a:p>
            <a:endParaRPr lang="en-LK"/>
          </a:p>
        </p:txBody>
      </p:sp>
      <p:sp>
        <p:nvSpPr>
          <p:cNvPr id="13" name="Text 11"/>
          <p:cNvSpPr/>
          <p:nvPr/>
        </p:nvSpPr>
        <p:spPr>
          <a:xfrm>
            <a:off x="274320" y="1188720"/>
            <a:ext cx="2746172" cy="841248"/>
          </a:xfrm>
          <a:prstGeom prst="rect">
            <a:avLst/>
          </a:prstGeom>
          <a:noFill/>
          <a:ln/>
        </p:spPr>
        <p:txBody>
          <a:bodyPr wrap="square" lIns="0" tIns="0" rIns="0" bIns="0" rtlCol="0" anchor="t"/>
          <a:lstStyle/>
          <a:p>
            <a:pPr marL="0" indent="0" algn="just">
              <a:lnSpc>
                <a:spcPct val="100000"/>
              </a:lnSpc>
              <a:buNone/>
            </a:pPr>
            <a:r>
              <a:rPr lang="en-US" sz="840" dirty="0">
                <a:solidFill>
                  <a:srgbClr val="1A1A1A"/>
                </a:solidFill>
                <a:latin typeface="Arial" pitchFamily="34" charset="0"/>
                <a:ea typeface="Arial" pitchFamily="34" charset="-122"/>
                <a:cs typeface="Arial" pitchFamily="34" charset="-120"/>
              </a:rPr>
              <a:t>This portfolio applies 31 visualisation techniques to the World Bank World Development Indicators (WDI) dataset to test whether national income predicts life expectancy and population growth. Built with Python (seaborn, Plotly), Power BI and Azure cloud storage, it analyses 7,161 country-year records across 217 nations.</a:t>
            </a:r>
            <a:endParaRPr lang="en-US" sz="840" dirty="0"/>
          </a:p>
        </p:txBody>
      </p:sp>
      <p:sp>
        <p:nvSpPr>
          <p:cNvPr id="14" name="Text 12"/>
          <p:cNvSpPr/>
          <p:nvPr/>
        </p:nvSpPr>
        <p:spPr>
          <a:xfrm>
            <a:off x="274320" y="1975104"/>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OBJECTIVES</a:t>
            </a:r>
            <a:endParaRPr lang="en-US" sz="1050" dirty="0"/>
          </a:p>
        </p:txBody>
      </p:sp>
      <p:sp>
        <p:nvSpPr>
          <p:cNvPr id="15" name="Shape 13"/>
          <p:cNvSpPr/>
          <p:nvPr/>
        </p:nvSpPr>
        <p:spPr>
          <a:xfrm>
            <a:off x="274320" y="2208276"/>
            <a:ext cx="2746172" cy="20117"/>
          </a:xfrm>
          <a:prstGeom prst="rect">
            <a:avLst/>
          </a:prstGeom>
          <a:solidFill>
            <a:srgbClr val="163560"/>
          </a:solidFill>
          <a:ln w="12700">
            <a:solidFill>
              <a:srgbClr val="163560"/>
            </a:solidFill>
            <a:prstDash val="solid"/>
          </a:ln>
        </p:spPr>
        <p:txBody>
          <a:bodyPr/>
          <a:lstStyle/>
          <a:p>
            <a:endParaRPr lang="en-LK"/>
          </a:p>
        </p:txBody>
      </p:sp>
      <p:sp>
        <p:nvSpPr>
          <p:cNvPr id="16" name="Text 14"/>
          <p:cNvSpPr/>
          <p:nvPr/>
        </p:nvSpPr>
        <p:spPr>
          <a:xfrm>
            <a:off x="274320" y="2267712"/>
            <a:ext cx="2746172" cy="1078992"/>
          </a:xfrm>
          <a:prstGeom prst="rect">
            <a:avLst/>
          </a:prstGeom>
          <a:noFill/>
          <a:ln/>
        </p:spPr>
        <p:txBody>
          <a:bodyPr wrap="square" lIns="0" tIns="0" rIns="0" bIns="0" rtlCol="0" anchor="t"/>
          <a:lstStyle/>
          <a:p>
            <a:pPr marL="127000" indent="-127000">
              <a:spcAft>
                <a:spcPts val="400"/>
              </a:spcAft>
              <a:buSzPct val="100000"/>
              <a:buChar char="•"/>
            </a:pPr>
            <a:r>
              <a:rPr lang="en-US" sz="840" dirty="0">
                <a:solidFill>
                  <a:srgbClr val="1A1A1A"/>
                </a:solidFill>
                <a:latin typeface="Arial" pitchFamily="34" charset="0"/>
                <a:ea typeface="Arial" pitchFamily="34" charset="-122"/>
                <a:cs typeface="Arial" pitchFamily="34" charset="-120"/>
              </a:rPr>
              <a:t>Confirm the Preston Curve income–health relationship</a:t>
            </a:r>
            <a:endParaRPr lang="en-US" sz="840" dirty="0"/>
          </a:p>
          <a:p>
            <a:pPr marL="127000" indent="-127000">
              <a:spcAft>
                <a:spcPts val="400"/>
              </a:spcAft>
              <a:buSzPct val="100000"/>
              <a:buChar char="•"/>
            </a:pPr>
            <a:r>
              <a:rPr lang="en-US" sz="840" dirty="0">
                <a:solidFill>
                  <a:srgbClr val="1A1A1A"/>
                </a:solidFill>
                <a:latin typeface="Arial" pitchFamily="34" charset="0"/>
                <a:ea typeface="Arial" pitchFamily="34" charset="-122"/>
                <a:cs typeface="Arial" pitchFamily="34" charset="-120"/>
              </a:rPr>
              <a:t>Track the curve's upward shift from 1990 to 2022</a:t>
            </a:r>
            <a:endParaRPr lang="en-US" sz="840" dirty="0"/>
          </a:p>
          <a:p>
            <a:pPr marL="127000" indent="-127000">
              <a:spcAft>
                <a:spcPts val="400"/>
              </a:spcAft>
              <a:buSzPct val="100000"/>
              <a:buChar char="•"/>
            </a:pPr>
            <a:r>
              <a:rPr lang="en-US" sz="840" dirty="0">
                <a:solidFill>
                  <a:srgbClr val="1A1A1A"/>
                </a:solidFill>
                <a:latin typeface="Arial" pitchFamily="34" charset="0"/>
                <a:ea typeface="Arial" pitchFamily="34" charset="-122"/>
                <a:cs typeface="Arial" pitchFamily="34" charset="-120"/>
              </a:rPr>
              <a:t>Identify outlier nations that defy the relationship</a:t>
            </a:r>
            <a:endParaRPr lang="en-US" sz="840" dirty="0"/>
          </a:p>
          <a:p>
            <a:pPr marL="127000" indent="-127000">
              <a:spcAft>
                <a:spcPts val="400"/>
              </a:spcAft>
              <a:buSzPct val="100000"/>
              <a:buChar char="•"/>
            </a:pPr>
            <a:r>
              <a:rPr lang="en-US" sz="840" dirty="0">
                <a:solidFill>
                  <a:srgbClr val="1A1A1A"/>
                </a:solidFill>
                <a:latin typeface="Arial" pitchFamily="34" charset="0"/>
                <a:ea typeface="Arial" pitchFamily="34" charset="-122"/>
                <a:cs typeface="Arial" pitchFamily="34" charset="-120"/>
              </a:rPr>
              <a:t>Quantify the COVID-19 reversal of health progress</a:t>
            </a:r>
            <a:endParaRPr lang="en-US" sz="840" dirty="0"/>
          </a:p>
          <a:p>
            <a:pPr marL="127000" indent="-127000">
              <a:spcAft>
                <a:spcPts val="400"/>
              </a:spcAft>
              <a:buSzPct val="100000"/>
              <a:buChar char="•"/>
            </a:pPr>
            <a:r>
              <a:rPr lang="en-US" sz="840" dirty="0">
                <a:solidFill>
                  <a:srgbClr val="1A1A1A"/>
                </a:solidFill>
                <a:latin typeface="Arial" pitchFamily="34" charset="0"/>
                <a:ea typeface="Arial" pitchFamily="34" charset="-122"/>
                <a:cs typeface="Arial" pitchFamily="34" charset="-120"/>
              </a:rPr>
              <a:t>Demonstrate a full cloud analytics pipeline</a:t>
            </a:r>
            <a:endParaRPr lang="en-US" sz="840" dirty="0"/>
          </a:p>
        </p:txBody>
      </p:sp>
      <p:sp>
        <p:nvSpPr>
          <p:cNvPr id="17" name="Text 15"/>
          <p:cNvSpPr/>
          <p:nvPr/>
        </p:nvSpPr>
        <p:spPr>
          <a:xfrm>
            <a:off x="274320" y="3310128"/>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DATASET</a:t>
            </a:r>
            <a:endParaRPr lang="en-US" sz="1050" dirty="0"/>
          </a:p>
        </p:txBody>
      </p:sp>
      <p:sp>
        <p:nvSpPr>
          <p:cNvPr id="18" name="Shape 16"/>
          <p:cNvSpPr/>
          <p:nvPr/>
        </p:nvSpPr>
        <p:spPr>
          <a:xfrm>
            <a:off x="274320" y="3543300"/>
            <a:ext cx="2746172" cy="20117"/>
          </a:xfrm>
          <a:prstGeom prst="rect">
            <a:avLst/>
          </a:prstGeom>
          <a:solidFill>
            <a:srgbClr val="163560"/>
          </a:solidFill>
          <a:ln w="12700">
            <a:solidFill>
              <a:srgbClr val="163560"/>
            </a:solidFill>
            <a:prstDash val="solid"/>
          </a:ln>
        </p:spPr>
        <p:txBody>
          <a:bodyPr/>
          <a:lstStyle/>
          <a:p>
            <a:endParaRPr lang="en-LK"/>
          </a:p>
        </p:txBody>
      </p:sp>
      <p:sp>
        <p:nvSpPr>
          <p:cNvPr id="19" name="Shape 17"/>
          <p:cNvSpPr/>
          <p:nvPr/>
        </p:nvSpPr>
        <p:spPr>
          <a:xfrm>
            <a:off x="274320" y="3621024"/>
            <a:ext cx="866623" cy="512064"/>
          </a:xfrm>
          <a:prstGeom prst="rect">
            <a:avLst/>
          </a:prstGeom>
          <a:solidFill>
            <a:srgbClr val="F5F8FC"/>
          </a:solidFill>
          <a:ln w="12700">
            <a:solidFill>
              <a:srgbClr val="D8DEE6"/>
            </a:solidFill>
            <a:prstDash val="solid"/>
          </a:ln>
        </p:spPr>
        <p:txBody>
          <a:bodyPr/>
          <a:lstStyle/>
          <a:p>
            <a:endParaRPr lang="en-LK"/>
          </a:p>
        </p:txBody>
      </p:sp>
      <p:sp>
        <p:nvSpPr>
          <p:cNvPr id="20" name="Text 18"/>
          <p:cNvSpPr/>
          <p:nvPr/>
        </p:nvSpPr>
        <p:spPr>
          <a:xfrm>
            <a:off x="274320" y="3657600"/>
            <a:ext cx="866623" cy="292608"/>
          </a:xfrm>
          <a:prstGeom prst="rect">
            <a:avLst/>
          </a:prstGeom>
          <a:noFill/>
          <a:ln/>
        </p:spPr>
        <p:txBody>
          <a:bodyPr wrap="square" lIns="0" tIns="0" rIns="0" bIns="0" rtlCol="0" anchor="ctr"/>
          <a:lstStyle/>
          <a:p>
            <a:pPr marL="0" indent="0" algn="ctr">
              <a:buNone/>
            </a:pPr>
            <a:r>
              <a:rPr lang="en-US" sz="1600" b="1" dirty="0">
                <a:solidFill>
                  <a:srgbClr val="163560"/>
                </a:solidFill>
                <a:latin typeface="Georgia" pitchFamily="34" charset="0"/>
                <a:ea typeface="Georgia" pitchFamily="34" charset="-122"/>
                <a:cs typeface="Georgia" pitchFamily="34" charset="-120"/>
              </a:rPr>
              <a:t>217</a:t>
            </a:r>
            <a:endParaRPr lang="en-US" sz="1600" dirty="0"/>
          </a:p>
        </p:txBody>
      </p:sp>
      <p:sp>
        <p:nvSpPr>
          <p:cNvPr id="21" name="Text 19"/>
          <p:cNvSpPr/>
          <p:nvPr/>
        </p:nvSpPr>
        <p:spPr>
          <a:xfrm>
            <a:off x="274320" y="3950208"/>
            <a:ext cx="866623" cy="155448"/>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Countries</a:t>
            </a:r>
            <a:endParaRPr lang="en-US" sz="700" dirty="0"/>
          </a:p>
        </p:txBody>
      </p:sp>
      <p:sp>
        <p:nvSpPr>
          <p:cNvPr id="22" name="Shape 20"/>
          <p:cNvSpPr/>
          <p:nvPr/>
        </p:nvSpPr>
        <p:spPr>
          <a:xfrm>
            <a:off x="1214095" y="3621024"/>
            <a:ext cx="866623" cy="512064"/>
          </a:xfrm>
          <a:prstGeom prst="rect">
            <a:avLst/>
          </a:prstGeom>
          <a:solidFill>
            <a:srgbClr val="E2F2F1"/>
          </a:solidFill>
          <a:ln w="12700">
            <a:solidFill>
              <a:srgbClr val="D8DEE6"/>
            </a:solidFill>
            <a:prstDash val="solid"/>
          </a:ln>
        </p:spPr>
        <p:txBody>
          <a:bodyPr/>
          <a:lstStyle/>
          <a:p>
            <a:endParaRPr lang="en-LK"/>
          </a:p>
        </p:txBody>
      </p:sp>
      <p:sp>
        <p:nvSpPr>
          <p:cNvPr id="23" name="Text 21"/>
          <p:cNvSpPr/>
          <p:nvPr/>
        </p:nvSpPr>
        <p:spPr>
          <a:xfrm>
            <a:off x="1214095" y="3657600"/>
            <a:ext cx="866623" cy="292608"/>
          </a:xfrm>
          <a:prstGeom prst="rect">
            <a:avLst/>
          </a:prstGeom>
          <a:noFill/>
          <a:ln/>
        </p:spPr>
        <p:txBody>
          <a:bodyPr wrap="square" lIns="0" tIns="0" rIns="0" bIns="0" rtlCol="0" anchor="ctr"/>
          <a:lstStyle/>
          <a:p>
            <a:pPr marL="0" indent="0" algn="ctr">
              <a:buNone/>
            </a:pPr>
            <a:r>
              <a:rPr lang="en-US" sz="1600" b="1" dirty="0">
                <a:solidFill>
                  <a:srgbClr val="0E7C7B"/>
                </a:solidFill>
                <a:latin typeface="Georgia" pitchFamily="34" charset="0"/>
                <a:ea typeface="Georgia" pitchFamily="34" charset="-122"/>
                <a:cs typeface="Georgia" pitchFamily="34" charset="-120"/>
              </a:rPr>
              <a:t>33</a:t>
            </a:r>
            <a:endParaRPr lang="en-US" sz="1600" dirty="0"/>
          </a:p>
        </p:txBody>
      </p:sp>
      <p:sp>
        <p:nvSpPr>
          <p:cNvPr id="24" name="Text 22"/>
          <p:cNvSpPr/>
          <p:nvPr/>
        </p:nvSpPr>
        <p:spPr>
          <a:xfrm>
            <a:off x="1214095" y="3950208"/>
            <a:ext cx="866623" cy="155448"/>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Years</a:t>
            </a:r>
            <a:endParaRPr lang="en-US" sz="700" dirty="0"/>
          </a:p>
        </p:txBody>
      </p:sp>
      <p:sp>
        <p:nvSpPr>
          <p:cNvPr id="25" name="Shape 23"/>
          <p:cNvSpPr/>
          <p:nvPr/>
        </p:nvSpPr>
        <p:spPr>
          <a:xfrm>
            <a:off x="2153869" y="3621024"/>
            <a:ext cx="866623" cy="512064"/>
          </a:xfrm>
          <a:prstGeom prst="rect">
            <a:avLst/>
          </a:prstGeom>
          <a:solidFill>
            <a:srgbClr val="FCF1E0"/>
          </a:solidFill>
          <a:ln w="12700">
            <a:solidFill>
              <a:srgbClr val="D8DEE6"/>
            </a:solidFill>
            <a:prstDash val="solid"/>
          </a:ln>
        </p:spPr>
        <p:txBody>
          <a:bodyPr/>
          <a:lstStyle/>
          <a:p>
            <a:endParaRPr lang="en-LK"/>
          </a:p>
        </p:txBody>
      </p:sp>
      <p:sp>
        <p:nvSpPr>
          <p:cNvPr id="26" name="Text 24"/>
          <p:cNvSpPr/>
          <p:nvPr/>
        </p:nvSpPr>
        <p:spPr>
          <a:xfrm>
            <a:off x="2153869" y="3657600"/>
            <a:ext cx="866623" cy="292608"/>
          </a:xfrm>
          <a:prstGeom prst="rect">
            <a:avLst/>
          </a:prstGeom>
          <a:noFill/>
          <a:ln/>
        </p:spPr>
        <p:txBody>
          <a:bodyPr wrap="square" lIns="0" tIns="0" rIns="0" bIns="0" rtlCol="0" anchor="ctr"/>
          <a:lstStyle/>
          <a:p>
            <a:pPr marL="0" indent="0" algn="ctr">
              <a:buNone/>
            </a:pPr>
            <a:r>
              <a:rPr lang="en-US" sz="1600" b="1" dirty="0">
                <a:solidFill>
                  <a:srgbClr val="C8790C"/>
                </a:solidFill>
                <a:latin typeface="Georgia" pitchFamily="34" charset="0"/>
                <a:ea typeface="Georgia" pitchFamily="34" charset="-122"/>
                <a:cs typeface="Georgia" pitchFamily="34" charset="-120"/>
              </a:rPr>
              <a:t>7,161</a:t>
            </a:r>
            <a:endParaRPr lang="en-US" sz="1600" dirty="0"/>
          </a:p>
        </p:txBody>
      </p:sp>
      <p:sp>
        <p:nvSpPr>
          <p:cNvPr id="27" name="Text 25"/>
          <p:cNvSpPr/>
          <p:nvPr/>
        </p:nvSpPr>
        <p:spPr>
          <a:xfrm>
            <a:off x="2153869" y="3950208"/>
            <a:ext cx="866623" cy="155448"/>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Records</a:t>
            </a:r>
            <a:endParaRPr lang="en-US" sz="700" dirty="0"/>
          </a:p>
        </p:txBody>
      </p:sp>
      <p:sp>
        <p:nvSpPr>
          <p:cNvPr id="28" name="Text 26"/>
          <p:cNvSpPr/>
          <p:nvPr/>
        </p:nvSpPr>
        <p:spPr>
          <a:xfrm>
            <a:off x="274320" y="4206240"/>
            <a:ext cx="2746172" cy="548640"/>
          </a:xfrm>
          <a:prstGeom prst="rect">
            <a:avLst/>
          </a:prstGeom>
          <a:noFill/>
          <a:ln/>
        </p:spPr>
        <p:txBody>
          <a:bodyPr wrap="square" lIns="0" tIns="0" rIns="0" bIns="0" rtlCol="0" anchor="t"/>
          <a:lstStyle/>
          <a:p>
            <a:pPr marL="0" indent="0" algn="just">
              <a:lnSpc>
                <a:spcPct val="100000"/>
              </a:lnSpc>
              <a:buNone/>
            </a:pPr>
            <a:r>
              <a:rPr lang="en-US" sz="780" dirty="0">
                <a:solidFill>
                  <a:srgbClr val="5A6472"/>
                </a:solidFill>
                <a:latin typeface="Arial" pitchFamily="34" charset="0"/>
                <a:ea typeface="Arial" pitchFamily="34" charset="-122"/>
                <a:cs typeface="Arial" pitchFamily="34" charset="-120"/>
              </a:rPr>
              <a:t>Three indicators: GDP per capita (95.1% complete), life expectancy (100%) and total population (100%), classified by income group and seven world regions for stratified analysis.</a:t>
            </a:r>
            <a:endParaRPr lang="en-US" sz="780" dirty="0"/>
          </a:p>
        </p:txBody>
      </p:sp>
      <p:sp>
        <p:nvSpPr>
          <p:cNvPr id="29" name="Text 27"/>
          <p:cNvSpPr/>
          <p:nvPr/>
        </p:nvSpPr>
        <p:spPr>
          <a:xfrm>
            <a:off x="274320" y="4754880"/>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METHODOLOGY</a:t>
            </a:r>
            <a:endParaRPr lang="en-US" sz="1050" dirty="0"/>
          </a:p>
        </p:txBody>
      </p:sp>
      <p:sp>
        <p:nvSpPr>
          <p:cNvPr id="30" name="Shape 28"/>
          <p:cNvSpPr/>
          <p:nvPr/>
        </p:nvSpPr>
        <p:spPr>
          <a:xfrm>
            <a:off x="274320" y="4988052"/>
            <a:ext cx="2746172" cy="20117"/>
          </a:xfrm>
          <a:prstGeom prst="rect">
            <a:avLst/>
          </a:prstGeom>
          <a:solidFill>
            <a:srgbClr val="163560"/>
          </a:solidFill>
          <a:ln w="12700">
            <a:solidFill>
              <a:srgbClr val="163560"/>
            </a:solidFill>
            <a:prstDash val="solid"/>
          </a:ln>
        </p:spPr>
        <p:txBody>
          <a:bodyPr/>
          <a:lstStyle/>
          <a:p>
            <a:endParaRPr lang="en-LK"/>
          </a:p>
        </p:txBody>
      </p:sp>
      <p:sp>
        <p:nvSpPr>
          <p:cNvPr id="31" name="Text 29"/>
          <p:cNvSpPr/>
          <p:nvPr/>
        </p:nvSpPr>
        <p:spPr>
          <a:xfrm>
            <a:off x="274320" y="5029200"/>
            <a:ext cx="2746172" cy="768096"/>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Filter 217 sovereign states from 266 WDI entities</a:t>
            </a:r>
            <a:endParaRPr lang="en-US" sz="800" dirty="0"/>
          </a:p>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Reshape wide→long via pandas melt and pivot</a:t>
            </a:r>
            <a:endParaRPr lang="en-US" sz="800" dirty="0"/>
          </a:p>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Impute GDP gaps ≤ 3 years by linear interpolation</a:t>
            </a:r>
            <a:endParaRPr lang="en-US" sz="800" dirty="0"/>
          </a:p>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Derive log10(GDP) and annual population growth</a:t>
            </a:r>
            <a:endParaRPr lang="en-US" sz="800" dirty="0"/>
          </a:p>
        </p:txBody>
      </p:sp>
      <p:sp>
        <p:nvSpPr>
          <p:cNvPr id="32" name="Text 30"/>
          <p:cNvSpPr/>
          <p:nvPr/>
        </p:nvSpPr>
        <p:spPr>
          <a:xfrm>
            <a:off x="274320" y="5779008"/>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CLOUD PIPELINE</a:t>
            </a:r>
            <a:endParaRPr lang="en-US" sz="1050" dirty="0"/>
          </a:p>
        </p:txBody>
      </p:sp>
      <p:sp>
        <p:nvSpPr>
          <p:cNvPr id="33" name="Shape 31"/>
          <p:cNvSpPr/>
          <p:nvPr/>
        </p:nvSpPr>
        <p:spPr>
          <a:xfrm>
            <a:off x="274320" y="6012180"/>
            <a:ext cx="2746172" cy="20117"/>
          </a:xfrm>
          <a:prstGeom prst="rect">
            <a:avLst/>
          </a:prstGeom>
          <a:solidFill>
            <a:srgbClr val="163560"/>
          </a:solidFill>
          <a:ln w="12700">
            <a:solidFill>
              <a:srgbClr val="163560"/>
            </a:solidFill>
            <a:prstDash val="solid"/>
          </a:ln>
        </p:spPr>
        <p:txBody>
          <a:bodyPr/>
          <a:lstStyle/>
          <a:p>
            <a:endParaRPr lang="en-LK"/>
          </a:p>
        </p:txBody>
      </p:sp>
      <p:sp>
        <p:nvSpPr>
          <p:cNvPr id="34" name="Text 32"/>
          <p:cNvSpPr/>
          <p:nvPr/>
        </p:nvSpPr>
        <p:spPr>
          <a:xfrm>
            <a:off x="274320" y="6053328"/>
            <a:ext cx="2746172" cy="731520"/>
          </a:xfrm>
          <a:prstGeom prst="rect">
            <a:avLst/>
          </a:prstGeom>
          <a:noFill/>
          <a:ln/>
        </p:spPr>
        <p:txBody>
          <a:bodyPr wrap="square" lIns="0" tIns="0" rIns="0" bIns="0" rtlCol="0" anchor="t"/>
          <a:lstStyle/>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Azure Blob Storage — six WDI source files</a:t>
            </a:r>
            <a:endParaRPr lang="en-US" sz="800" dirty="0"/>
          </a:p>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Google Colab — notebook execution (GPU)</a:t>
            </a:r>
            <a:endParaRPr lang="en-US" sz="800" dirty="0"/>
          </a:p>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GitHub — version control + Colab badge</a:t>
            </a:r>
            <a:endParaRPr lang="en-US" sz="800" dirty="0"/>
          </a:p>
          <a:p>
            <a:pPr marL="127000" indent="-127000">
              <a:spcAft>
                <a:spcPts val="400"/>
              </a:spcAft>
              <a:buSzPct val="100000"/>
              <a:buChar char="•"/>
            </a:pPr>
            <a:r>
              <a:rPr lang="en-US" sz="800" dirty="0">
                <a:solidFill>
                  <a:srgbClr val="1A1A1A"/>
                </a:solidFill>
                <a:latin typeface="Arial" pitchFamily="34" charset="0"/>
                <a:ea typeface="Arial" pitchFamily="34" charset="-122"/>
                <a:cs typeface="Arial" pitchFamily="34" charset="-120"/>
              </a:rPr>
              <a:t>Power BI — six-visual dashboard</a:t>
            </a:r>
            <a:endParaRPr lang="en-US" sz="800" dirty="0"/>
          </a:p>
        </p:txBody>
      </p:sp>
      <p:sp>
        <p:nvSpPr>
          <p:cNvPr id="35" name="Text 33"/>
          <p:cNvSpPr/>
          <p:nvPr/>
        </p:nvSpPr>
        <p:spPr>
          <a:xfrm>
            <a:off x="3239948" y="896112"/>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THE PRESTON CURVE (2022)</a:t>
            </a:r>
            <a:endParaRPr lang="en-US" sz="1050" dirty="0"/>
          </a:p>
        </p:txBody>
      </p:sp>
      <p:sp>
        <p:nvSpPr>
          <p:cNvPr id="36" name="Shape 34"/>
          <p:cNvSpPr/>
          <p:nvPr/>
        </p:nvSpPr>
        <p:spPr>
          <a:xfrm>
            <a:off x="3239948" y="1129284"/>
            <a:ext cx="2746172" cy="20117"/>
          </a:xfrm>
          <a:prstGeom prst="rect">
            <a:avLst/>
          </a:prstGeom>
          <a:solidFill>
            <a:srgbClr val="163560"/>
          </a:solidFill>
          <a:ln w="12700">
            <a:solidFill>
              <a:srgbClr val="163560"/>
            </a:solidFill>
            <a:prstDash val="solid"/>
          </a:ln>
        </p:spPr>
        <p:txBody>
          <a:bodyPr/>
          <a:lstStyle/>
          <a:p>
            <a:endParaRPr lang="en-LK"/>
          </a:p>
        </p:txBody>
      </p:sp>
      <p:graphicFrame>
        <p:nvGraphicFramePr>
          <p:cNvPr id="37" name="Chart 0"/>
          <p:cNvGraphicFramePr/>
          <p:nvPr/>
        </p:nvGraphicFramePr>
        <p:xfrm>
          <a:off x="3203372" y="1207008"/>
          <a:ext cx="2819324" cy="1517904"/>
        </p:xfrm>
        <a:graphic>
          <a:graphicData uri="http://schemas.openxmlformats.org/drawingml/2006/chart">
            <c:chart xmlns:c="http://schemas.openxmlformats.org/drawingml/2006/chart" xmlns:r="http://schemas.openxmlformats.org/officeDocument/2006/relationships" r:id="rId3"/>
          </a:graphicData>
        </a:graphic>
      </p:graphicFrame>
      <p:sp>
        <p:nvSpPr>
          <p:cNvPr id="38" name="Shape 35"/>
          <p:cNvSpPr/>
          <p:nvPr/>
        </p:nvSpPr>
        <p:spPr>
          <a:xfrm>
            <a:off x="3239948" y="2779776"/>
            <a:ext cx="2746172" cy="310896"/>
          </a:xfrm>
          <a:prstGeom prst="rect">
            <a:avLst/>
          </a:prstGeom>
          <a:solidFill>
            <a:srgbClr val="163560"/>
          </a:solidFill>
          <a:ln w="12700">
            <a:solidFill>
              <a:srgbClr val="163560"/>
            </a:solidFill>
            <a:prstDash val="solid"/>
          </a:ln>
        </p:spPr>
        <p:txBody>
          <a:bodyPr/>
          <a:lstStyle/>
          <a:p>
            <a:endParaRPr lang="en-LK"/>
          </a:p>
        </p:txBody>
      </p:sp>
      <p:sp>
        <p:nvSpPr>
          <p:cNvPr id="39" name="Text 36"/>
          <p:cNvSpPr/>
          <p:nvPr/>
        </p:nvSpPr>
        <p:spPr>
          <a:xfrm>
            <a:off x="3239948" y="2779776"/>
            <a:ext cx="2746172" cy="310896"/>
          </a:xfrm>
          <a:prstGeom prst="rect">
            <a:avLst/>
          </a:prstGeom>
          <a:noFill/>
          <a:ln/>
        </p:spPr>
        <p:txBody>
          <a:bodyPr wrap="square" lIns="0" tIns="0" rIns="0" bIns="0" rtlCol="0" anchor="ctr"/>
          <a:lstStyle/>
          <a:p>
            <a:pPr marL="0" indent="0" algn="ctr">
              <a:buNone/>
            </a:pPr>
            <a:r>
              <a:rPr lang="en-US" sz="1100" b="1" dirty="0">
                <a:solidFill>
                  <a:srgbClr val="FFD98A"/>
                </a:solidFill>
                <a:latin typeface="Arial" pitchFamily="34" charset="0"/>
                <a:ea typeface="Arial" pitchFamily="34" charset="-122"/>
                <a:cs typeface="Arial" pitchFamily="34" charset="-120"/>
              </a:rPr>
              <a:t>r = +0.792   </a:t>
            </a:r>
            <a:r>
              <a:rPr lang="en-US" sz="1100" b="1" dirty="0">
                <a:solidFill>
                  <a:srgbClr val="8FE6D8"/>
                </a:solidFill>
                <a:latin typeface="Arial" pitchFamily="34" charset="0"/>
                <a:ea typeface="Arial" pitchFamily="34" charset="-122"/>
                <a:cs typeface="Arial" pitchFamily="34" charset="-120"/>
              </a:rPr>
              <a:t>R² = 0.628   </a:t>
            </a:r>
            <a:r>
              <a:rPr lang="en-US" sz="850" dirty="0">
                <a:solidFill>
                  <a:srgbClr val="D6E2F2"/>
                </a:solidFill>
                <a:latin typeface="Arial" pitchFamily="34" charset="0"/>
                <a:ea typeface="Arial" pitchFamily="34" charset="-122"/>
                <a:cs typeface="Arial" pitchFamily="34" charset="-120"/>
              </a:rPr>
              <a:t>n = 209</a:t>
            </a:r>
            <a:endParaRPr lang="en-US" sz="1100" dirty="0"/>
          </a:p>
        </p:txBody>
      </p:sp>
      <p:sp>
        <p:nvSpPr>
          <p:cNvPr id="40" name="Text 37"/>
          <p:cNvSpPr/>
          <p:nvPr/>
        </p:nvSpPr>
        <p:spPr>
          <a:xfrm>
            <a:off x="3239948" y="3163824"/>
            <a:ext cx="2746172" cy="676656"/>
          </a:xfrm>
          <a:prstGeom prst="rect">
            <a:avLst/>
          </a:prstGeom>
          <a:noFill/>
          <a:ln/>
        </p:spPr>
        <p:txBody>
          <a:bodyPr wrap="square" lIns="0" tIns="0" rIns="0" bIns="0" rtlCol="0" anchor="t"/>
          <a:lstStyle/>
          <a:p>
            <a:pPr marL="0" indent="0" algn="just">
              <a:lnSpc>
                <a:spcPct val="100000"/>
              </a:lnSpc>
              <a:buNone/>
            </a:pPr>
            <a:r>
              <a:rPr lang="en-US" sz="820" dirty="0">
                <a:solidFill>
                  <a:srgbClr val="1A1A1A"/>
                </a:solidFill>
                <a:latin typeface="Arial" pitchFamily="34" charset="0"/>
                <a:ea typeface="Arial" pitchFamily="34" charset="-122"/>
                <a:cs typeface="Arial" pitchFamily="34" charset="-120"/>
              </a:rPr>
              <a:t>Life expectancy rises steeply with income then plateaus above $20,000 — a classic concave Preston Curve. A tenfold rise in GDP per capita corresponds to roughly 9.94 added years (OLS), and the log-linear fit explains 62.8% of cross-national variance.</a:t>
            </a:r>
            <a:endParaRPr lang="en-US" sz="820" dirty="0"/>
          </a:p>
        </p:txBody>
      </p:sp>
      <p:sp>
        <p:nvSpPr>
          <p:cNvPr id="41" name="Text 38"/>
          <p:cNvSpPr/>
          <p:nvPr/>
        </p:nvSpPr>
        <p:spPr>
          <a:xfrm>
            <a:off x="3239948" y="3895344"/>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OUTLIERS</a:t>
            </a:r>
            <a:endParaRPr lang="en-US" sz="1050" dirty="0"/>
          </a:p>
        </p:txBody>
      </p:sp>
      <p:sp>
        <p:nvSpPr>
          <p:cNvPr id="42" name="Shape 39"/>
          <p:cNvSpPr/>
          <p:nvPr/>
        </p:nvSpPr>
        <p:spPr>
          <a:xfrm>
            <a:off x="3239948" y="4128516"/>
            <a:ext cx="2746172" cy="20117"/>
          </a:xfrm>
          <a:prstGeom prst="rect">
            <a:avLst/>
          </a:prstGeom>
          <a:solidFill>
            <a:srgbClr val="163560"/>
          </a:solidFill>
          <a:ln w="12700">
            <a:solidFill>
              <a:srgbClr val="163560"/>
            </a:solidFill>
            <a:prstDash val="solid"/>
          </a:ln>
        </p:spPr>
        <p:txBody>
          <a:bodyPr/>
          <a:lstStyle/>
          <a:p>
            <a:endParaRPr lang="en-LK"/>
          </a:p>
        </p:txBody>
      </p:sp>
      <p:sp>
        <p:nvSpPr>
          <p:cNvPr id="43" name="Shape 40"/>
          <p:cNvSpPr/>
          <p:nvPr/>
        </p:nvSpPr>
        <p:spPr>
          <a:xfrm>
            <a:off x="3239948" y="4187952"/>
            <a:ext cx="2746172" cy="457200"/>
          </a:xfrm>
          <a:prstGeom prst="rect">
            <a:avLst/>
          </a:prstGeom>
          <a:solidFill>
            <a:srgbClr val="E6F4EC"/>
          </a:solidFill>
          <a:ln w="12700">
            <a:solidFill>
              <a:srgbClr val="1C7A47"/>
            </a:solidFill>
            <a:prstDash val="solid"/>
          </a:ln>
        </p:spPr>
        <p:txBody>
          <a:bodyPr/>
          <a:lstStyle/>
          <a:p>
            <a:endParaRPr lang="en-LK"/>
          </a:p>
        </p:txBody>
      </p:sp>
      <p:sp>
        <p:nvSpPr>
          <p:cNvPr id="44" name="Shape 41"/>
          <p:cNvSpPr/>
          <p:nvPr/>
        </p:nvSpPr>
        <p:spPr>
          <a:xfrm>
            <a:off x="3239948" y="4187952"/>
            <a:ext cx="64008" cy="457200"/>
          </a:xfrm>
          <a:prstGeom prst="rect">
            <a:avLst/>
          </a:prstGeom>
          <a:solidFill>
            <a:srgbClr val="1C7A47"/>
          </a:solidFill>
          <a:ln w="12700">
            <a:solidFill>
              <a:srgbClr val="1C7A47"/>
            </a:solidFill>
            <a:prstDash val="solid"/>
          </a:ln>
        </p:spPr>
        <p:txBody>
          <a:bodyPr/>
          <a:lstStyle/>
          <a:p>
            <a:endParaRPr lang="en-LK"/>
          </a:p>
        </p:txBody>
      </p:sp>
      <p:sp>
        <p:nvSpPr>
          <p:cNvPr id="45" name="Text 42"/>
          <p:cNvSpPr/>
          <p:nvPr/>
        </p:nvSpPr>
        <p:spPr>
          <a:xfrm>
            <a:off x="3386252" y="4215384"/>
            <a:ext cx="2545004" cy="201168"/>
          </a:xfrm>
          <a:prstGeom prst="rect">
            <a:avLst/>
          </a:prstGeom>
          <a:noFill/>
          <a:ln/>
        </p:spPr>
        <p:txBody>
          <a:bodyPr wrap="square" lIns="0" tIns="0" rIns="0" bIns="0" rtlCol="0" anchor="ctr"/>
          <a:lstStyle/>
          <a:p>
            <a:pPr marL="0" indent="0">
              <a:buNone/>
            </a:pPr>
            <a:r>
              <a:rPr lang="en-US" sz="1000" b="1" dirty="0">
                <a:solidFill>
                  <a:srgbClr val="1C7A47"/>
                </a:solidFill>
                <a:latin typeface="Arial" pitchFamily="34" charset="0"/>
                <a:ea typeface="Arial" pitchFamily="34" charset="-122"/>
                <a:cs typeface="Arial" pitchFamily="34" charset="-120"/>
              </a:rPr>
              <a:t>CUBA  </a:t>
            </a:r>
            <a:r>
              <a:rPr lang="en-US" sz="800" dirty="0">
                <a:solidFill>
                  <a:srgbClr val="1A1A1A"/>
                </a:solidFill>
                <a:latin typeface="Arial" pitchFamily="34" charset="0"/>
                <a:ea typeface="Arial" pitchFamily="34" charset="-122"/>
                <a:cs typeface="Arial" pitchFamily="34" charset="-120"/>
              </a:rPr>
              <a:t>$9,500 · 79.1 yrs · </a:t>
            </a:r>
            <a:r>
              <a:rPr lang="en-US" sz="800" b="1" dirty="0">
                <a:solidFill>
                  <a:srgbClr val="1C7A47"/>
                </a:solidFill>
                <a:latin typeface="Arial" pitchFamily="34" charset="0"/>
                <a:ea typeface="Arial" pitchFamily="34" charset="-122"/>
                <a:cs typeface="Arial" pitchFamily="34" charset="-120"/>
              </a:rPr>
              <a:t>+8.1 yrs above curve</a:t>
            </a:r>
            <a:endParaRPr lang="en-US" sz="1000" dirty="0"/>
          </a:p>
        </p:txBody>
      </p:sp>
      <p:sp>
        <p:nvSpPr>
          <p:cNvPr id="46" name="Text 43"/>
          <p:cNvSpPr/>
          <p:nvPr/>
        </p:nvSpPr>
        <p:spPr>
          <a:xfrm>
            <a:off x="3386252" y="4416552"/>
            <a:ext cx="2545004" cy="201168"/>
          </a:xfrm>
          <a:prstGeom prst="rect">
            <a:avLst/>
          </a:prstGeom>
          <a:noFill/>
          <a:ln/>
        </p:spPr>
        <p:txBody>
          <a:bodyPr wrap="square" lIns="0" tIns="0" rIns="0" bIns="0" rtlCol="0" anchor="t"/>
          <a:lstStyle/>
          <a:p>
            <a:pPr marL="0" indent="0" algn="just">
              <a:lnSpc>
                <a:spcPct val="100000"/>
              </a:lnSpc>
              <a:buNone/>
            </a:pPr>
            <a:r>
              <a:rPr lang="en-US" sz="720" dirty="0">
                <a:solidFill>
                  <a:srgbClr val="5A6472"/>
                </a:solidFill>
                <a:latin typeface="Arial" pitchFamily="34" charset="0"/>
                <a:ea typeface="Arial" pitchFamily="34" charset="-122"/>
                <a:cs typeface="Arial" pitchFamily="34" charset="-120"/>
              </a:rPr>
              <a:t>Universal healthcare yields European longevity at low income.</a:t>
            </a:r>
            <a:endParaRPr lang="en-US" sz="720" dirty="0"/>
          </a:p>
        </p:txBody>
      </p:sp>
      <p:sp>
        <p:nvSpPr>
          <p:cNvPr id="47" name="Shape 44"/>
          <p:cNvSpPr/>
          <p:nvPr/>
        </p:nvSpPr>
        <p:spPr>
          <a:xfrm>
            <a:off x="3239948" y="4718304"/>
            <a:ext cx="2746172" cy="457200"/>
          </a:xfrm>
          <a:prstGeom prst="rect">
            <a:avLst/>
          </a:prstGeom>
          <a:solidFill>
            <a:srgbClr val="FBEAE8"/>
          </a:solidFill>
          <a:ln w="12700">
            <a:solidFill>
              <a:srgbClr val="B83227"/>
            </a:solidFill>
            <a:prstDash val="solid"/>
          </a:ln>
        </p:spPr>
        <p:txBody>
          <a:bodyPr/>
          <a:lstStyle/>
          <a:p>
            <a:endParaRPr lang="en-LK"/>
          </a:p>
        </p:txBody>
      </p:sp>
      <p:sp>
        <p:nvSpPr>
          <p:cNvPr id="48" name="Shape 45"/>
          <p:cNvSpPr/>
          <p:nvPr/>
        </p:nvSpPr>
        <p:spPr>
          <a:xfrm>
            <a:off x="3239948" y="4718304"/>
            <a:ext cx="64008" cy="457200"/>
          </a:xfrm>
          <a:prstGeom prst="rect">
            <a:avLst/>
          </a:prstGeom>
          <a:solidFill>
            <a:srgbClr val="B83227"/>
          </a:solidFill>
          <a:ln w="12700">
            <a:solidFill>
              <a:srgbClr val="B83227"/>
            </a:solidFill>
            <a:prstDash val="solid"/>
          </a:ln>
        </p:spPr>
        <p:txBody>
          <a:bodyPr/>
          <a:lstStyle/>
          <a:p>
            <a:endParaRPr lang="en-LK"/>
          </a:p>
        </p:txBody>
      </p:sp>
      <p:sp>
        <p:nvSpPr>
          <p:cNvPr id="49" name="Text 46"/>
          <p:cNvSpPr/>
          <p:nvPr/>
        </p:nvSpPr>
        <p:spPr>
          <a:xfrm>
            <a:off x="3386252" y="4745736"/>
            <a:ext cx="2545004" cy="201168"/>
          </a:xfrm>
          <a:prstGeom prst="rect">
            <a:avLst/>
          </a:prstGeom>
          <a:noFill/>
          <a:ln/>
        </p:spPr>
        <p:txBody>
          <a:bodyPr wrap="square" lIns="0" tIns="0" rIns="0" bIns="0" rtlCol="0" anchor="ctr"/>
          <a:lstStyle/>
          <a:p>
            <a:pPr marL="0" indent="0">
              <a:buNone/>
            </a:pPr>
            <a:r>
              <a:rPr lang="en-US" sz="1000" b="1" dirty="0">
                <a:solidFill>
                  <a:srgbClr val="B83227"/>
                </a:solidFill>
                <a:latin typeface="Arial" pitchFamily="34" charset="0"/>
                <a:ea typeface="Arial" pitchFamily="34" charset="-122"/>
                <a:cs typeface="Arial" pitchFamily="34" charset="-120"/>
              </a:rPr>
              <a:t>NIGERIA  </a:t>
            </a:r>
            <a:r>
              <a:rPr lang="en-US" sz="800" dirty="0">
                <a:solidFill>
                  <a:srgbClr val="1A1A1A"/>
                </a:solidFill>
                <a:latin typeface="Arial" pitchFamily="34" charset="0"/>
                <a:ea typeface="Arial" pitchFamily="34" charset="-122"/>
                <a:cs typeface="Arial" pitchFamily="34" charset="-120"/>
              </a:rPr>
              <a:t>$2,899 · 54.1 yrs · </a:t>
            </a:r>
            <a:r>
              <a:rPr lang="en-US" sz="800" b="1" dirty="0">
                <a:solidFill>
                  <a:srgbClr val="B83227"/>
                </a:solidFill>
                <a:latin typeface="Arial" pitchFamily="34" charset="0"/>
                <a:ea typeface="Arial" pitchFamily="34" charset="-122"/>
                <a:cs typeface="Arial" pitchFamily="34" charset="-120"/>
              </a:rPr>
              <a:t>−14.5 yrs below curve</a:t>
            </a:r>
            <a:endParaRPr lang="en-US" sz="1000" dirty="0"/>
          </a:p>
        </p:txBody>
      </p:sp>
      <p:sp>
        <p:nvSpPr>
          <p:cNvPr id="50" name="Text 47"/>
          <p:cNvSpPr/>
          <p:nvPr/>
        </p:nvSpPr>
        <p:spPr>
          <a:xfrm>
            <a:off x="3386252" y="4946904"/>
            <a:ext cx="2545004" cy="201168"/>
          </a:xfrm>
          <a:prstGeom prst="rect">
            <a:avLst/>
          </a:prstGeom>
          <a:noFill/>
          <a:ln/>
        </p:spPr>
        <p:txBody>
          <a:bodyPr wrap="square" lIns="0" tIns="0" rIns="0" bIns="0" rtlCol="0" anchor="t"/>
          <a:lstStyle/>
          <a:p>
            <a:pPr marL="0" indent="0" algn="just">
              <a:lnSpc>
                <a:spcPct val="100000"/>
              </a:lnSpc>
              <a:buNone/>
            </a:pPr>
            <a:r>
              <a:rPr lang="en-US" sz="720" dirty="0">
                <a:solidFill>
                  <a:srgbClr val="5A6472"/>
                </a:solidFill>
                <a:latin typeface="Arial" pitchFamily="34" charset="0"/>
                <a:ea typeface="Arial" pitchFamily="34" charset="-122"/>
                <a:cs typeface="Arial" pitchFamily="34" charset="-120"/>
              </a:rPr>
              <a:t>Oil wealth has not been converted into public health gains.</a:t>
            </a:r>
            <a:endParaRPr lang="en-US" sz="720" dirty="0"/>
          </a:p>
        </p:txBody>
      </p:sp>
      <p:sp>
        <p:nvSpPr>
          <p:cNvPr id="51" name="Text 48"/>
          <p:cNvSpPr/>
          <p:nvPr/>
        </p:nvSpPr>
        <p:spPr>
          <a:xfrm>
            <a:off x="3239948" y="5266944"/>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INCOME GROUP GAP</a:t>
            </a:r>
            <a:endParaRPr lang="en-US" sz="1050" dirty="0"/>
          </a:p>
        </p:txBody>
      </p:sp>
      <p:sp>
        <p:nvSpPr>
          <p:cNvPr id="52" name="Shape 49"/>
          <p:cNvSpPr/>
          <p:nvPr/>
        </p:nvSpPr>
        <p:spPr>
          <a:xfrm>
            <a:off x="3239948" y="5500116"/>
            <a:ext cx="2746172" cy="20117"/>
          </a:xfrm>
          <a:prstGeom prst="rect">
            <a:avLst/>
          </a:prstGeom>
          <a:solidFill>
            <a:srgbClr val="163560"/>
          </a:solidFill>
          <a:ln w="12700">
            <a:solidFill>
              <a:srgbClr val="163560"/>
            </a:solidFill>
            <a:prstDash val="solid"/>
          </a:ln>
        </p:spPr>
        <p:txBody>
          <a:bodyPr/>
          <a:lstStyle/>
          <a:p>
            <a:endParaRPr lang="en-LK"/>
          </a:p>
        </p:txBody>
      </p:sp>
      <p:graphicFrame>
        <p:nvGraphicFramePr>
          <p:cNvPr id="53" name="Chart 1"/>
          <p:cNvGraphicFramePr/>
          <p:nvPr/>
        </p:nvGraphicFramePr>
        <p:xfrm>
          <a:off x="3203372" y="5559552"/>
          <a:ext cx="2819324" cy="841248"/>
        </p:xfrm>
        <a:graphic>
          <a:graphicData uri="http://schemas.openxmlformats.org/drawingml/2006/chart">
            <c:chart xmlns:c="http://schemas.openxmlformats.org/drawingml/2006/chart" xmlns:r="http://schemas.openxmlformats.org/officeDocument/2006/relationships" r:id="rId4"/>
          </a:graphicData>
        </a:graphic>
      </p:graphicFrame>
      <p:sp>
        <p:nvSpPr>
          <p:cNvPr id="54" name="Text 50"/>
          <p:cNvSpPr/>
          <p:nvPr/>
        </p:nvSpPr>
        <p:spPr>
          <a:xfrm>
            <a:off x="6205576" y="896112"/>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REGIONAL TRENDS 1990–2022</a:t>
            </a:r>
            <a:endParaRPr lang="en-US" sz="1050" dirty="0"/>
          </a:p>
        </p:txBody>
      </p:sp>
      <p:sp>
        <p:nvSpPr>
          <p:cNvPr id="55" name="Shape 51"/>
          <p:cNvSpPr/>
          <p:nvPr/>
        </p:nvSpPr>
        <p:spPr>
          <a:xfrm>
            <a:off x="6205576" y="1129284"/>
            <a:ext cx="2746172" cy="20117"/>
          </a:xfrm>
          <a:prstGeom prst="rect">
            <a:avLst/>
          </a:prstGeom>
          <a:solidFill>
            <a:srgbClr val="163560"/>
          </a:solidFill>
          <a:ln w="12700">
            <a:solidFill>
              <a:srgbClr val="163560"/>
            </a:solidFill>
            <a:prstDash val="solid"/>
          </a:ln>
        </p:spPr>
        <p:txBody>
          <a:bodyPr/>
          <a:lstStyle/>
          <a:p>
            <a:endParaRPr lang="en-LK"/>
          </a:p>
        </p:txBody>
      </p:sp>
      <p:graphicFrame>
        <p:nvGraphicFramePr>
          <p:cNvPr id="56" name="Chart 2"/>
          <p:cNvGraphicFramePr/>
          <p:nvPr/>
        </p:nvGraphicFramePr>
        <p:xfrm>
          <a:off x="6169000" y="1207008"/>
          <a:ext cx="2819324" cy="1591056"/>
        </p:xfrm>
        <a:graphic>
          <a:graphicData uri="http://schemas.openxmlformats.org/drawingml/2006/chart">
            <c:chart xmlns:c="http://schemas.openxmlformats.org/drawingml/2006/chart" xmlns:r="http://schemas.openxmlformats.org/officeDocument/2006/relationships" r:id="rId5"/>
          </a:graphicData>
        </a:graphic>
      </p:graphicFrame>
      <p:sp>
        <p:nvSpPr>
          <p:cNvPr id="57" name="Shape 52"/>
          <p:cNvSpPr/>
          <p:nvPr/>
        </p:nvSpPr>
        <p:spPr>
          <a:xfrm>
            <a:off x="6205576" y="2852928"/>
            <a:ext cx="2746172" cy="329184"/>
          </a:xfrm>
          <a:prstGeom prst="rect">
            <a:avLst/>
          </a:prstGeom>
          <a:solidFill>
            <a:srgbClr val="FBEAE8"/>
          </a:solidFill>
          <a:ln w="12700">
            <a:solidFill>
              <a:srgbClr val="B83227"/>
            </a:solidFill>
            <a:prstDash val="solid"/>
          </a:ln>
        </p:spPr>
        <p:txBody>
          <a:bodyPr/>
          <a:lstStyle/>
          <a:p>
            <a:endParaRPr lang="en-LK"/>
          </a:p>
        </p:txBody>
      </p:sp>
      <p:sp>
        <p:nvSpPr>
          <p:cNvPr id="58" name="Text 53"/>
          <p:cNvSpPr/>
          <p:nvPr/>
        </p:nvSpPr>
        <p:spPr>
          <a:xfrm>
            <a:off x="6297016" y="2852928"/>
            <a:ext cx="2563292" cy="329184"/>
          </a:xfrm>
          <a:prstGeom prst="rect">
            <a:avLst/>
          </a:prstGeom>
          <a:noFill/>
          <a:ln/>
        </p:spPr>
        <p:txBody>
          <a:bodyPr wrap="square" lIns="0" tIns="0" rIns="0" bIns="0" rtlCol="0" anchor="ctr"/>
          <a:lstStyle/>
          <a:p>
            <a:pPr marL="0" indent="0">
              <a:buNone/>
            </a:pPr>
            <a:r>
              <a:rPr lang="en-US" sz="850" b="1" dirty="0">
                <a:solidFill>
                  <a:srgbClr val="B83227"/>
                </a:solidFill>
                <a:latin typeface="Arial" pitchFamily="34" charset="0"/>
                <a:ea typeface="Arial" pitchFamily="34" charset="-122"/>
                <a:cs typeface="Arial" pitchFamily="34" charset="-120"/>
              </a:rPr>
              <a:t>COVID-19 (2020–21):  </a:t>
            </a:r>
            <a:r>
              <a:rPr lang="en-US" sz="800" dirty="0">
                <a:solidFill>
                  <a:srgbClr val="1A1A1A"/>
                </a:solidFill>
                <a:latin typeface="Arial" pitchFamily="34" charset="0"/>
                <a:ea typeface="Arial" pitchFamily="34" charset="-122"/>
                <a:cs typeface="Arial" pitchFamily="34" charset="-120"/>
              </a:rPr>
              <a:t>global life expectancy fell 1.6 yrs, erasing ~a decade of gains.</a:t>
            </a:r>
            <a:endParaRPr lang="en-US" sz="850" dirty="0"/>
          </a:p>
        </p:txBody>
      </p:sp>
      <p:sp>
        <p:nvSpPr>
          <p:cNvPr id="59" name="Text 54"/>
          <p:cNvSpPr/>
          <p:nvPr/>
        </p:nvSpPr>
        <p:spPr>
          <a:xfrm>
            <a:off x="6205576" y="3255264"/>
            <a:ext cx="2746172" cy="603504"/>
          </a:xfrm>
          <a:prstGeom prst="rect">
            <a:avLst/>
          </a:prstGeom>
          <a:noFill/>
          <a:ln/>
        </p:spPr>
        <p:txBody>
          <a:bodyPr wrap="square" lIns="0" tIns="0" rIns="0" bIns="0" rtlCol="0" anchor="t"/>
          <a:lstStyle/>
          <a:p>
            <a:pPr marL="0" indent="0" algn="just">
              <a:lnSpc>
                <a:spcPct val="100000"/>
              </a:lnSpc>
              <a:buNone/>
            </a:pPr>
            <a:r>
              <a:rPr lang="en-US" sz="820" dirty="0">
                <a:solidFill>
                  <a:srgbClr val="1A1A1A"/>
                </a:solidFill>
                <a:latin typeface="Arial" pitchFamily="34" charset="0"/>
                <a:ea typeface="Arial" pitchFamily="34" charset="-122"/>
                <a:cs typeface="Arial" pitchFamily="34" charset="-120"/>
              </a:rPr>
              <a:t>All seven regions improved since 1990. Sub-Saharan Africa shows the HIV/AIDS plateau of 1995–2005 before recovery; South Asia gained the most at +12 years. The 2020–21 dip is visible across every region.</a:t>
            </a:r>
            <a:endParaRPr lang="en-US" sz="820" dirty="0"/>
          </a:p>
        </p:txBody>
      </p:sp>
      <p:sp>
        <p:nvSpPr>
          <p:cNvPr id="60" name="Text 55"/>
          <p:cNvSpPr/>
          <p:nvPr/>
        </p:nvSpPr>
        <p:spPr>
          <a:xfrm>
            <a:off x="6205576" y="3913632"/>
            <a:ext cx="2746172" cy="219456"/>
          </a:xfrm>
          <a:prstGeom prst="rect">
            <a:avLst/>
          </a:prstGeom>
          <a:noFill/>
          <a:ln/>
        </p:spPr>
        <p:txBody>
          <a:bodyPr wrap="square" lIns="0" tIns="0" rIns="0" bIns="0" rtlCol="0" anchor="ctr"/>
          <a:lstStyle/>
          <a:p>
            <a:pPr marL="0" indent="0">
              <a:buNone/>
            </a:pPr>
            <a:r>
              <a:rPr lang="en-US" sz="1050" b="1" kern="0" spc="60" dirty="0">
                <a:solidFill>
                  <a:srgbClr val="0E7C7B"/>
                </a:solidFill>
                <a:latin typeface="Arial" pitchFamily="34" charset="0"/>
                <a:ea typeface="Arial" pitchFamily="34" charset="-122"/>
                <a:cs typeface="Arial" pitchFamily="34" charset="-120"/>
              </a:rPr>
              <a:t>INTERACTIVE — PLOTLY</a:t>
            </a:r>
            <a:endParaRPr lang="en-US" sz="1050" dirty="0"/>
          </a:p>
        </p:txBody>
      </p:sp>
      <p:sp>
        <p:nvSpPr>
          <p:cNvPr id="61" name="Shape 56"/>
          <p:cNvSpPr/>
          <p:nvPr/>
        </p:nvSpPr>
        <p:spPr>
          <a:xfrm>
            <a:off x="6205576" y="4146804"/>
            <a:ext cx="2746172" cy="20117"/>
          </a:xfrm>
          <a:prstGeom prst="rect">
            <a:avLst/>
          </a:prstGeom>
          <a:solidFill>
            <a:srgbClr val="0E7C7B"/>
          </a:solidFill>
          <a:ln w="12700">
            <a:solidFill>
              <a:srgbClr val="0E7C7B"/>
            </a:solidFill>
            <a:prstDash val="solid"/>
          </a:ln>
        </p:spPr>
        <p:txBody>
          <a:bodyPr/>
          <a:lstStyle/>
          <a:p>
            <a:endParaRPr lang="en-LK"/>
          </a:p>
        </p:txBody>
      </p:sp>
      <p:sp>
        <p:nvSpPr>
          <p:cNvPr id="62" name="Shape 57"/>
          <p:cNvSpPr/>
          <p:nvPr/>
        </p:nvSpPr>
        <p:spPr>
          <a:xfrm>
            <a:off x="6205576" y="4187952"/>
            <a:ext cx="1327366" cy="274320"/>
          </a:xfrm>
          <a:prstGeom prst="rect">
            <a:avLst/>
          </a:prstGeom>
          <a:solidFill>
            <a:srgbClr val="F5F8FC"/>
          </a:solidFill>
          <a:ln w="12700">
            <a:solidFill>
              <a:srgbClr val="D8DEE6"/>
            </a:solidFill>
            <a:prstDash val="solid"/>
          </a:ln>
        </p:spPr>
        <p:txBody>
          <a:bodyPr/>
          <a:lstStyle/>
          <a:p>
            <a:endParaRPr lang="en-LK"/>
          </a:p>
        </p:txBody>
      </p:sp>
      <p:sp>
        <p:nvSpPr>
          <p:cNvPr id="63" name="Shape 58"/>
          <p:cNvSpPr/>
          <p:nvPr/>
        </p:nvSpPr>
        <p:spPr>
          <a:xfrm>
            <a:off x="6251296" y="4238244"/>
            <a:ext cx="256032" cy="173736"/>
          </a:xfrm>
          <a:prstGeom prst="rect">
            <a:avLst/>
          </a:prstGeom>
          <a:solidFill>
            <a:srgbClr val="163560"/>
          </a:solidFill>
          <a:ln w="12700">
            <a:solidFill>
              <a:srgbClr val="163560"/>
            </a:solidFill>
            <a:prstDash val="solid"/>
          </a:ln>
        </p:spPr>
        <p:txBody>
          <a:bodyPr/>
          <a:lstStyle/>
          <a:p>
            <a:endParaRPr lang="en-LK"/>
          </a:p>
        </p:txBody>
      </p:sp>
      <p:sp>
        <p:nvSpPr>
          <p:cNvPr id="64" name="Text 59"/>
          <p:cNvSpPr/>
          <p:nvPr/>
        </p:nvSpPr>
        <p:spPr>
          <a:xfrm>
            <a:off x="6251296" y="4238244"/>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P1</a:t>
            </a:r>
            <a:endParaRPr lang="en-US" sz="680" dirty="0"/>
          </a:p>
        </p:txBody>
      </p:sp>
      <p:sp>
        <p:nvSpPr>
          <p:cNvPr id="65" name="Text 60"/>
          <p:cNvSpPr/>
          <p:nvPr/>
        </p:nvSpPr>
        <p:spPr>
          <a:xfrm>
            <a:off x="6553048" y="4187952"/>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Animated Preston Curve, 1990–2022</a:t>
            </a:r>
            <a:endParaRPr lang="en-US" sz="660" dirty="0"/>
          </a:p>
        </p:txBody>
      </p:sp>
      <p:sp>
        <p:nvSpPr>
          <p:cNvPr id="66" name="Shape 61"/>
          <p:cNvSpPr/>
          <p:nvPr/>
        </p:nvSpPr>
        <p:spPr>
          <a:xfrm>
            <a:off x="7624382" y="4187952"/>
            <a:ext cx="1327366" cy="274320"/>
          </a:xfrm>
          <a:prstGeom prst="rect">
            <a:avLst/>
          </a:prstGeom>
          <a:solidFill>
            <a:srgbClr val="E2F2F1"/>
          </a:solidFill>
          <a:ln w="12700">
            <a:solidFill>
              <a:srgbClr val="D8DEE6"/>
            </a:solidFill>
            <a:prstDash val="solid"/>
          </a:ln>
        </p:spPr>
        <p:txBody>
          <a:bodyPr/>
          <a:lstStyle/>
          <a:p>
            <a:endParaRPr lang="en-LK"/>
          </a:p>
        </p:txBody>
      </p:sp>
      <p:sp>
        <p:nvSpPr>
          <p:cNvPr id="67" name="Shape 62"/>
          <p:cNvSpPr/>
          <p:nvPr/>
        </p:nvSpPr>
        <p:spPr>
          <a:xfrm>
            <a:off x="7670102" y="4238244"/>
            <a:ext cx="256032" cy="173736"/>
          </a:xfrm>
          <a:prstGeom prst="rect">
            <a:avLst/>
          </a:prstGeom>
          <a:solidFill>
            <a:srgbClr val="163560"/>
          </a:solidFill>
          <a:ln w="12700">
            <a:solidFill>
              <a:srgbClr val="163560"/>
            </a:solidFill>
            <a:prstDash val="solid"/>
          </a:ln>
        </p:spPr>
        <p:txBody>
          <a:bodyPr/>
          <a:lstStyle/>
          <a:p>
            <a:endParaRPr lang="en-LK"/>
          </a:p>
        </p:txBody>
      </p:sp>
      <p:sp>
        <p:nvSpPr>
          <p:cNvPr id="68" name="Text 63"/>
          <p:cNvSpPr/>
          <p:nvPr/>
        </p:nvSpPr>
        <p:spPr>
          <a:xfrm>
            <a:off x="7670102" y="4238244"/>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P2</a:t>
            </a:r>
            <a:endParaRPr lang="en-US" sz="680" dirty="0"/>
          </a:p>
        </p:txBody>
      </p:sp>
      <p:sp>
        <p:nvSpPr>
          <p:cNvPr id="69" name="Text 64"/>
          <p:cNvSpPr/>
          <p:nvPr/>
        </p:nvSpPr>
        <p:spPr>
          <a:xfrm>
            <a:off x="7971854" y="4187952"/>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Life-expectancy world choropleth</a:t>
            </a:r>
            <a:endParaRPr lang="en-US" sz="660" dirty="0"/>
          </a:p>
        </p:txBody>
      </p:sp>
      <p:sp>
        <p:nvSpPr>
          <p:cNvPr id="70" name="Shape 65"/>
          <p:cNvSpPr/>
          <p:nvPr/>
        </p:nvSpPr>
        <p:spPr>
          <a:xfrm>
            <a:off x="6205576" y="4503420"/>
            <a:ext cx="1327366" cy="274320"/>
          </a:xfrm>
          <a:prstGeom prst="rect">
            <a:avLst/>
          </a:prstGeom>
          <a:solidFill>
            <a:srgbClr val="F5F8FC"/>
          </a:solidFill>
          <a:ln w="12700">
            <a:solidFill>
              <a:srgbClr val="D8DEE6"/>
            </a:solidFill>
            <a:prstDash val="solid"/>
          </a:ln>
        </p:spPr>
        <p:txBody>
          <a:bodyPr/>
          <a:lstStyle/>
          <a:p>
            <a:endParaRPr lang="en-LK"/>
          </a:p>
        </p:txBody>
      </p:sp>
      <p:sp>
        <p:nvSpPr>
          <p:cNvPr id="71" name="Shape 66"/>
          <p:cNvSpPr/>
          <p:nvPr/>
        </p:nvSpPr>
        <p:spPr>
          <a:xfrm>
            <a:off x="6251296" y="4553712"/>
            <a:ext cx="256032" cy="173736"/>
          </a:xfrm>
          <a:prstGeom prst="rect">
            <a:avLst/>
          </a:prstGeom>
          <a:solidFill>
            <a:srgbClr val="163560"/>
          </a:solidFill>
          <a:ln w="12700">
            <a:solidFill>
              <a:srgbClr val="163560"/>
            </a:solidFill>
            <a:prstDash val="solid"/>
          </a:ln>
        </p:spPr>
        <p:txBody>
          <a:bodyPr/>
          <a:lstStyle/>
          <a:p>
            <a:endParaRPr lang="en-LK"/>
          </a:p>
        </p:txBody>
      </p:sp>
      <p:sp>
        <p:nvSpPr>
          <p:cNvPr id="72" name="Text 67"/>
          <p:cNvSpPr/>
          <p:nvPr/>
        </p:nvSpPr>
        <p:spPr>
          <a:xfrm>
            <a:off x="6251296" y="4553712"/>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P3</a:t>
            </a:r>
            <a:endParaRPr lang="en-US" sz="680" dirty="0"/>
          </a:p>
        </p:txBody>
      </p:sp>
      <p:sp>
        <p:nvSpPr>
          <p:cNvPr id="73" name="Text 68"/>
          <p:cNvSpPr/>
          <p:nvPr/>
        </p:nvSpPr>
        <p:spPr>
          <a:xfrm>
            <a:off x="6553048" y="4503420"/>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GDP per-capita choropleth (log)</a:t>
            </a:r>
            <a:endParaRPr lang="en-US" sz="660" dirty="0"/>
          </a:p>
        </p:txBody>
      </p:sp>
      <p:sp>
        <p:nvSpPr>
          <p:cNvPr id="74" name="Shape 69"/>
          <p:cNvSpPr/>
          <p:nvPr/>
        </p:nvSpPr>
        <p:spPr>
          <a:xfrm>
            <a:off x="7624382" y="4503420"/>
            <a:ext cx="1327366" cy="274320"/>
          </a:xfrm>
          <a:prstGeom prst="rect">
            <a:avLst/>
          </a:prstGeom>
          <a:solidFill>
            <a:srgbClr val="E2F2F1"/>
          </a:solidFill>
          <a:ln w="12700">
            <a:solidFill>
              <a:srgbClr val="D8DEE6"/>
            </a:solidFill>
            <a:prstDash val="solid"/>
          </a:ln>
        </p:spPr>
        <p:txBody>
          <a:bodyPr/>
          <a:lstStyle/>
          <a:p>
            <a:endParaRPr lang="en-LK"/>
          </a:p>
        </p:txBody>
      </p:sp>
      <p:sp>
        <p:nvSpPr>
          <p:cNvPr id="75" name="Shape 70"/>
          <p:cNvSpPr/>
          <p:nvPr/>
        </p:nvSpPr>
        <p:spPr>
          <a:xfrm>
            <a:off x="7670102" y="4553712"/>
            <a:ext cx="256032" cy="173736"/>
          </a:xfrm>
          <a:prstGeom prst="rect">
            <a:avLst/>
          </a:prstGeom>
          <a:solidFill>
            <a:srgbClr val="163560"/>
          </a:solidFill>
          <a:ln w="12700">
            <a:solidFill>
              <a:srgbClr val="163560"/>
            </a:solidFill>
            <a:prstDash val="solid"/>
          </a:ln>
        </p:spPr>
        <p:txBody>
          <a:bodyPr/>
          <a:lstStyle/>
          <a:p>
            <a:endParaRPr lang="en-LK"/>
          </a:p>
        </p:txBody>
      </p:sp>
      <p:sp>
        <p:nvSpPr>
          <p:cNvPr id="76" name="Text 71"/>
          <p:cNvSpPr/>
          <p:nvPr/>
        </p:nvSpPr>
        <p:spPr>
          <a:xfrm>
            <a:off x="7670102" y="4553712"/>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P4</a:t>
            </a:r>
            <a:endParaRPr lang="en-US" sz="680" dirty="0"/>
          </a:p>
        </p:txBody>
      </p:sp>
      <p:sp>
        <p:nvSpPr>
          <p:cNvPr id="77" name="Text 72"/>
          <p:cNvSpPr/>
          <p:nvPr/>
        </p:nvSpPr>
        <p:spPr>
          <a:xfrm>
            <a:off x="7971854" y="4503420"/>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Sunburst: region→income→country</a:t>
            </a:r>
            <a:endParaRPr lang="en-US" sz="660" dirty="0"/>
          </a:p>
        </p:txBody>
      </p:sp>
      <p:sp>
        <p:nvSpPr>
          <p:cNvPr id="78" name="Shape 73"/>
          <p:cNvSpPr/>
          <p:nvPr/>
        </p:nvSpPr>
        <p:spPr>
          <a:xfrm>
            <a:off x="6205576" y="4818888"/>
            <a:ext cx="1327366" cy="274320"/>
          </a:xfrm>
          <a:prstGeom prst="rect">
            <a:avLst/>
          </a:prstGeom>
          <a:solidFill>
            <a:srgbClr val="F5F8FC"/>
          </a:solidFill>
          <a:ln w="12700">
            <a:solidFill>
              <a:srgbClr val="D8DEE6"/>
            </a:solidFill>
            <a:prstDash val="solid"/>
          </a:ln>
        </p:spPr>
        <p:txBody>
          <a:bodyPr/>
          <a:lstStyle/>
          <a:p>
            <a:endParaRPr lang="en-LK"/>
          </a:p>
        </p:txBody>
      </p:sp>
      <p:sp>
        <p:nvSpPr>
          <p:cNvPr id="79" name="Shape 74"/>
          <p:cNvSpPr/>
          <p:nvPr/>
        </p:nvSpPr>
        <p:spPr>
          <a:xfrm>
            <a:off x="6251296" y="4869180"/>
            <a:ext cx="256032" cy="173736"/>
          </a:xfrm>
          <a:prstGeom prst="rect">
            <a:avLst/>
          </a:prstGeom>
          <a:solidFill>
            <a:srgbClr val="163560"/>
          </a:solidFill>
          <a:ln w="12700">
            <a:solidFill>
              <a:srgbClr val="163560"/>
            </a:solidFill>
            <a:prstDash val="solid"/>
          </a:ln>
        </p:spPr>
        <p:txBody>
          <a:bodyPr/>
          <a:lstStyle/>
          <a:p>
            <a:endParaRPr lang="en-LK"/>
          </a:p>
        </p:txBody>
      </p:sp>
      <p:sp>
        <p:nvSpPr>
          <p:cNvPr id="80" name="Text 75"/>
          <p:cNvSpPr/>
          <p:nvPr/>
        </p:nvSpPr>
        <p:spPr>
          <a:xfrm>
            <a:off x="6251296" y="4869180"/>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P5</a:t>
            </a:r>
            <a:endParaRPr lang="en-US" sz="680" dirty="0"/>
          </a:p>
        </p:txBody>
      </p:sp>
      <p:sp>
        <p:nvSpPr>
          <p:cNvPr id="81" name="Text 76"/>
          <p:cNvSpPr/>
          <p:nvPr/>
        </p:nvSpPr>
        <p:spPr>
          <a:xfrm>
            <a:off x="6553048" y="4818888"/>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Treemap: population × health</a:t>
            </a:r>
            <a:endParaRPr lang="en-US" sz="660" dirty="0"/>
          </a:p>
        </p:txBody>
      </p:sp>
      <p:sp>
        <p:nvSpPr>
          <p:cNvPr id="82" name="Shape 77"/>
          <p:cNvSpPr/>
          <p:nvPr/>
        </p:nvSpPr>
        <p:spPr>
          <a:xfrm>
            <a:off x="7624382" y="4818888"/>
            <a:ext cx="1327366" cy="274320"/>
          </a:xfrm>
          <a:prstGeom prst="rect">
            <a:avLst/>
          </a:prstGeom>
          <a:solidFill>
            <a:srgbClr val="E2F2F1"/>
          </a:solidFill>
          <a:ln w="12700">
            <a:solidFill>
              <a:srgbClr val="D8DEE6"/>
            </a:solidFill>
            <a:prstDash val="solid"/>
          </a:ln>
        </p:spPr>
        <p:txBody>
          <a:bodyPr/>
          <a:lstStyle/>
          <a:p>
            <a:endParaRPr lang="en-LK"/>
          </a:p>
        </p:txBody>
      </p:sp>
      <p:sp>
        <p:nvSpPr>
          <p:cNvPr id="83" name="Shape 78"/>
          <p:cNvSpPr/>
          <p:nvPr/>
        </p:nvSpPr>
        <p:spPr>
          <a:xfrm>
            <a:off x="7670102" y="4869180"/>
            <a:ext cx="256032" cy="173736"/>
          </a:xfrm>
          <a:prstGeom prst="rect">
            <a:avLst/>
          </a:prstGeom>
          <a:solidFill>
            <a:srgbClr val="163560"/>
          </a:solidFill>
          <a:ln w="12700">
            <a:solidFill>
              <a:srgbClr val="163560"/>
            </a:solidFill>
            <a:prstDash val="solid"/>
          </a:ln>
        </p:spPr>
        <p:txBody>
          <a:bodyPr/>
          <a:lstStyle/>
          <a:p>
            <a:endParaRPr lang="en-LK"/>
          </a:p>
        </p:txBody>
      </p:sp>
      <p:sp>
        <p:nvSpPr>
          <p:cNvPr id="84" name="Text 79"/>
          <p:cNvSpPr/>
          <p:nvPr/>
        </p:nvSpPr>
        <p:spPr>
          <a:xfrm>
            <a:off x="7670102" y="4869180"/>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P6</a:t>
            </a:r>
            <a:endParaRPr lang="en-US" sz="680" dirty="0"/>
          </a:p>
        </p:txBody>
      </p:sp>
      <p:sp>
        <p:nvSpPr>
          <p:cNvPr id="85" name="Text 80"/>
          <p:cNvSpPr/>
          <p:nvPr/>
        </p:nvSpPr>
        <p:spPr>
          <a:xfrm>
            <a:off x="7971854" y="4818888"/>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Bubble chart by region</a:t>
            </a:r>
            <a:endParaRPr lang="en-US" sz="660" dirty="0"/>
          </a:p>
        </p:txBody>
      </p:sp>
      <p:sp>
        <p:nvSpPr>
          <p:cNvPr id="86" name="Shape 81"/>
          <p:cNvSpPr/>
          <p:nvPr/>
        </p:nvSpPr>
        <p:spPr>
          <a:xfrm>
            <a:off x="6205576" y="5134356"/>
            <a:ext cx="1327366" cy="274320"/>
          </a:xfrm>
          <a:prstGeom prst="rect">
            <a:avLst/>
          </a:prstGeom>
          <a:solidFill>
            <a:srgbClr val="F5F8FC"/>
          </a:solidFill>
          <a:ln w="12700">
            <a:solidFill>
              <a:srgbClr val="D8DEE6"/>
            </a:solidFill>
            <a:prstDash val="solid"/>
          </a:ln>
        </p:spPr>
        <p:txBody>
          <a:bodyPr/>
          <a:lstStyle/>
          <a:p>
            <a:endParaRPr lang="en-LK"/>
          </a:p>
        </p:txBody>
      </p:sp>
      <p:sp>
        <p:nvSpPr>
          <p:cNvPr id="87" name="Shape 82"/>
          <p:cNvSpPr/>
          <p:nvPr/>
        </p:nvSpPr>
        <p:spPr>
          <a:xfrm>
            <a:off x="6251296" y="5184648"/>
            <a:ext cx="256032" cy="173736"/>
          </a:xfrm>
          <a:prstGeom prst="rect">
            <a:avLst/>
          </a:prstGeom>
          <a:solidFill>
            <a:srgbClr val="163560"/>
          </a:solidFill>
          <a:ln w="12700">
            <a:solidFill>
              <a:srgbClr val="163560"/>
            </a:solidFill>
            <a:prstDash val="solid"/>
          </a:ln>
        </p:spPr>
        <p:txBody>
          <a:bodyPr/>
          <a:lstStyle/>
          <a:p>
            <a:endParaRPr lang="en-LK"/>
          </a:p>
        </p:txBody>
      </p:sp>
      <p:sp>
        <p:nvSpPr>
          <p:cNvPr id="88" name="Text 83"/>
          <p:cNvSpPr/>
          <p:nvPr/>
        </p:nvSpPr>
        <p:spPr>
          <a:xfrm>
            <a:off x="6251296" y="5184648"/>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P7</a:t>
            </a:r>
            <a:endParaRPr lang="en-US" sz="680" dirty="0"/>
          </a:p>
        </p:txBody>
      </p:sp>
      <p:sp>
        <p:nvSpPr>
          <p:cNvPr id="89" name="Text 84"/>
          <p:cNvSpPr/>
          <p:nvPr/>
        </p:nvSpPr>
        <p:spPr>
          <a:xfrm>
            <a:off x="6553048" y="5134356"/>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Stacked area, regional trends</a:t>
            </a:r>
            <a:endParaRPr lang="en-US" sz="660" dirty="0"/>
          </a:p>
        </p:txBody>
      </p:sp>
      <p:sp>
        <p:nvSpPr>
          <p:cNvPr id="90" name="Shape 85"/>
          <p:cNvSpPr/>
          <p:nvPr/>
        </p:nvSpPr>
        <p:spPr>
          <a:xfrm>
            <a:off x="7624382" y="5134356"/>
            <a:ext cx="1327366" cy="274320"/>
          </a:xfrm>
          <a:prstGeom prst="rect">
            <a:avLst/>
          </a:prstGeom>
          <a:solidFill>
            <a:srgbClr val="E2F2F1"/>
          </a:solidFill>
          <a:ln w="12700">
            <a:solidFill>
              <a:srgbClr val="D8DEE6"/>
            </a:solidFill>
            <a:prstDash val="solid"/>
          </a:ln>
        </p:spPr>
        <p:txBody>
          <a:bodyPr/>
          <a:lstStyle/>
          <a:p>
            <a:endParaRPr lang="en-LK"/>
          </a:p>
        </p:txBody>
      </p:sp>
      <p:sp>
        <p:nvSpPr>
          <p:cNvPr id="91" name="Shape 86"/>
          <p:cNvSpPr/>
          <p:nvPr/>
        </p:nvSpPr>
        <p:spPr>
          <a:xfrm>
            <a:off x="7670102" y="5184648"/>
            <a:ext cx="256032" cy="173736"/>
          </a:xfrm>
          <a:prstGeom prst="rect">
            <a:avLst/>
          </a:prstGeom>
          <a:solidFill>
            <a:srgbClr val="163560"/>
          </a:solidFill>
          <a:ln w="12700">
            <a:solidFill>
              <a:srgbClr val="163560"/>
            </a:solidFill>
            <a:prstDash val="solid"/>
          </a:ln>
        </p:spPr>
        <p:txBody>
          <a:bodyPr/>
          <a:lstStyle/>
          <a:p>
            <a:endParaRPr lang="en-LK"/>
          </a:p>
        </p:txBody>
      </p:sp>
      <p:sp>
        <p:nvSpPr>
          <p:cNvPr id="92" name="Text 87"/>
          <p:cNvSpPr/>
          <p:nvPr/>
        </p:nvSpPr>
        <p:spPr>
          <a:xfrm>
            <a:off x="7670102" y="5184648"/>
            <a:ext cx="256032" cy="173736"/>
          </a:xfrm>
          <a:prstGeom prst="rect">
            <a:avLst/>
          </a:prstGeom>
          <a:noFill/>
          <a:ln/>
        </p:spPr>
        <p:txBody>
          <a:bodyPr wrap="square" lIns="0" tIns="0" rIns="0" bIns="0" rtlCol="0" anchor="ctr"/>
          <a:lstStyle/>
          <a:p>
            <a:pPr marL="0" indent="0" algn="ctr">
              <a:buNone/>
            </a:pPr>
            <a:r>
              <a:rPr lang="en-US" sz="680" b="1" dirty="0">
                <a:solidFill>
                  <a:srgbClr val="FFFFFF"/>
                </a:solidFill>
                <a:latin typeface="Arial" pitchFamily="34" charset="0"/>
                <a:ea typeface="Arial" pitchFamily="34" charset="-122"/>
                <a:cs typeface="Arial" pitchFamily="34" charset="-120"/>
              </a:rPr>
              <a:t>P8</a:t>
            </a:r>
            <a:endParaRPr lang="en-US" sz="680" dirty="0"/>
          </a:p>
        </p:txBody>
      </p:sp>
      <p:sp>
        <p:nvSpPr>
          <p:cNvPr id="93" name="Text 88"/>
          <p:cNvSpPr/>
          <p:nvPr/>
        </p:nvSpPr>
        <p:spPr>
          <a:xfrm>
            <a:off x="7971854" y="5134356"/>
            <a:ext cx="943318" cy="274320"/>
          </a:xfrm>
          <a:prstGeom prst="rect">
            <a:avLst/>
          </a:prstGeom>
          <a:noFill/>
          <a:ln/>
        </p:spPr>
        <p:txBody>
          <a:bodyPr wrap="square" lIns="0" tIns="0" rIns="0" bIns="0" rtlCol="0" anchor="ctr"/>
          <a:lstStyle/>
          <a:p>
            <a:pPr marL="0" indent="0">
              <a:buNone/>
            </a:pPr>
            <a:r>
              <a:rPr lang="en-US" sz="660" dirty="0">
                <a:solidFill>
                  <a:srgbClr val="1A1A1A"/>
                </a:solidFill>
                <a:latin typeface="Arial" pitchFamily="34" charset="0"/>
                <a:ea typeface="Arial" pitchFamily="34" charset="-122"/>
                <a:cs typeface="Arial" pitchFamily="34" charset="-120"/>
              </a:rPr>
              <a:t>Parallel-coordinates profile</a:t>
            </a:r>
            <a:endParaRPr lang="en-US" sz="660" dirty="0"/>
          </a:p>
        </p:txBody>
      </p:sp>
      <p:sp>
        <p:nvSpPr>
          <p:cNvPr id="94" name="Text 89"/>
          <p:cNvSpPr/>
          <p:nvPr/>
        </p:nvSpPr>
        <p:spPr>
          <a:xfrm>
            <a:off x="6205576" y="5541264"/>
            <a:ext cx="2746172" cy="219456"/>
          </a:xfrm>
          <a:prstGeom prst="rect">
            <a:avLst/>
          </a:prstGeom>
          <a:noFill/>
          <a:ln/>
        </p:spPr>
        <p:txBody>
          <a:bodyPr wrap="square" lIns="0" tIns="0" rIns="0" bIns="0" rtlCol="0" anchor="ctr"/>
          <a:lstStyle/>
          <a:p>
            <a:pPr marL="0" indent="0">
              <a:buNone/>
            </a:pPr>
            <a:r>
              <a:rPr lang="en-US" sz="1050" b="1" kern="0" spc="60" dirty="0">
                <a:solidFill>
                  <a:srgbClr val="1C7A47"/>
                </a:solidFill>
                <a:latin typeface="Arial" pitchFamily="34" charset="0"/>
                <a:ea typeface="Arial" pitchFamily="34" charset="-122"/>
                <a:cs typeface="Arial" pitchFamily="34" charset="-120"/>
              </a:rPr>
              <a:t>GROWTH VS LIFE EXPECTANCY</a:t>
            </a:r>
            <a:endParaRPr lang="en-US" sz="1050" dirty="0"/>
          </a:p>
        </p:txBody>
      </p:sp>
      <p:sp>
        <p:nvSpPr>
          <p:cNvPr id="95" name="Shape 90"/>
          <p:cNvSpPr/>
          <p:nvPr/>
        </p:nvSpPr>
        <p:spPr>
          <a:xfrm>
            <a:off x="6205576" y="5774436"/>
            <a:ext cx="2746172" cy="20117"/>
          </a:xfrm>
          <a:prstGeom prst="rect">
            <a:avLst/>
          </a:prstGeom>
          <a:solidFill>
            <a:srgbClr val="1C7A47"/>
          </a:solidFill>
          <a:ln w="12700">
            <a:solidFill>
              <a:srgbClr val="1C7A47"/>
            </a:solidFill>
            <a:prstDash val="solid"/>
          </a:ln>
        </p:spPr>
        <p:txBody>
          <a:bodyPr/>
          <a:lstStyle/>
          <a:p>
            <a:endParaRPr lang="en-LK"/>
          </a:p>
        </p:txBody>
      </p:sp>
      <p:graphicFrame>
        <p:nvGraphicFramePr>
          <p:cNvPr id="96" name="Chart 3"/>
          <p:cNvGraphicFramePr/>
          <p:nvPr/>
        </p:nvGraphicFramePr>
        <p:xfrm>
          <a:off x="6169000" y="5815584"/>
          <a:ext cx="2819324" cy="859536"/>
        </p:xfrm>
        <a:graphic>
          <a:graphicData uri="http://schemas.openxmlformats.org/drawingml/2006/chart">
            <c:chart xmlns:c="http://schemas.openxmlformats.org/drawingml/2006/chart" xmlns:r="http://schemas.openxmlformats.org/officeDocument/2006/relationships" r:id="rId6"/>
          </a:graphicData>
        </a:graphic>
      </p:graphicFrame>
      <p:sp>
        <p:nvSpPr>
          <p:cNvPr id="97" name="Shape 91"/>
          <p:cNvSpPr/>
          <p:nvPr/>
        </p:nvSpPr>
        <p:spPr>
          <a:xfrm>
            <a:off x="6190108" y="6565392"/>
            <a:ext cx="2746172" cy="219456"/>
          </a:xfrm>
          <a:prstGeom prst="rect">
            <a:avLst/>
          </a:prstGeom>
          <a:solidFill>
            <a:srgbClr val="E6F4EC"/>
          </a:solidFill>
          <a:ln w="12700">
            <a:solidFill>
              <a:srgbClr val="1C7A47"/>
            </a:solidFill>
            <a:prstDash val="solid"/>
          </a:ln>
        </p:spPr>
        <p:txBody>
          <a:bodyPr/>
          <a:lstStyle/>
          <a:p>
            <a:endParaRPr lang="en-LK"/>
          </a:p>
        </p:txBody>
      </p:sp>
      <p:sp>
        <p:nvSpPr>
          <p:cNvPr id="98" name="Text 92"/>
          <p:cNvSpPr/>
          <p:nvPr/>
        </p:nvSpPr>
        <p:spPr>
          <a:xfrm>
            <a:off x="6205576" y="6592824"/>
            <a:ext cx="2636444" cy="219456"/>
          </a:xfrm>
          <a:prstGeom prst="rect">
            <a:avLst/>
          </a:prstGeom>
          <a:noFill/>
          <a:ln/>
        </p:spPr>
        <p:txBody>
          <a:bodyPr wrap="square" lIns="0" tIns="0" rIns="0" bIns="0" rtlCol="0" anchor="ctr"/>
          <a:lstStyle/>
          <a:p>
            <a:pPr marL="0" indent="0" algn="ctr">
              <a:buNone/>
            </a:pPr>
            <a:r>
              <a:rPr lang="en-US" sz="760" b="1" dirty="0">
                <a:solidFill>
                  <a:srgbClr val="1C7A47"/>
                </a:solidFill>
                <a:latin typeface="Arial" pitchFamily="34" charset="0"/>
                <a:ea typeface="Arial" pitchFamily="34" charset="-122"/>
                <a:cs typeface="Arial" pitchFamily="34" charset="-120"/>
              </a:rPr>
              <a:t>Strong negative trend (r = −0.71): the demographic transition</a:t>
            </a:r>
            <a:endParaRPr lang="en-US" sz="760" dirty="0"/>
          </a:p>
        </p:txBody>
      </p:sp>
      <p:sp>
        <p:nvSpPr>
          <p:cNvPr id="99" name="Text 93"/>
          <p:cNvSpPr/>
          <p:nvPr/>
        </p:nvSpPr>
        <p:spPr>
          <a:xfrm>
            <a:off x="9171203" y="896112"/>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KEY FINDINGS</a:t>
            </a:r>
            <a:endParaRPr lang="en-US" sz="1050" dirty="0"/>
          </a:p>
        </p:txBody>
      </p:sp>
      <p:sp>
        <p:nvSpPr>
          <p:cNvPr id="100" name="Shape 94"/>
          <p:cNvSpPr/>
          <p:nvPr/>
        </p:nvSpPr>
        <p:spPr>
          <a:xfrm>
            <a:off x="9171203" y="1129284"/>
            <a:ext cx="2746172" cy="20117"/>
          </a:xfrm>
          <a:prstGeom prst="rect">
            <a:avLst/>
          </a:prstGeom>
          <a:solidFill>
            <a:srgbClr val="163560"/>
          </a:solidFill>
          <a:ln w="12700">
            <a:solidFill>
              <a:srgbClr val="163560"/>
            </a:solidFill>
            <a:prstDash val="solid"/>
          </a:ln>
        </p:spPr>
        <p:txBody>
          <a:bodyPr/>
          <a:lstStyle/>
          <a:p>
            <a:endParaRPr lang="en-LK"/>
          </a:p>
        </p:txBody>
      </p:sp>
      <p:sp>
        <p:nvSpPr>
          <p:cNvPr id="101" name="Shape 95"/>
          <p:cNvSpPr/>
          <p:nvPr/>
        </p:nvSpPr>
        <p:spPr>
          <a:xfrm>
            <a:off x="9171203" y="1207008"/>
            <a:ext cx="2746172" cy="640080"/>
          </a:xfrm>
          <a:prstGeom prst="rect">
            <a:avLst/>
          </a:prstGeom>
          <a:solidFill>
            <a:srgbClr val="F5F8FC"/>
          </a:solidFill>
          <a:ln w="12700">
            <a:solidFill>
              <a:srgbClr val="D8DEE6"/>
            </a:solidFill>
            <a:prstDash val="solid"/>
          </a:ln>
        </p:spPr>
        <p:txBody>
          <a:bodyPr/>
          <a:lstStyle/>
          <a:p>
            <a:endParaRPr lang="en-LK"/>
          </a:p>
        </p:txBody>
      </p:sp>
      <p:sp>
        <p:nvSpPr>
          <p:cNvPr id="102" name="Shape 96"/>
          <p:cNvSpPr/>
          <p:nvPr/>
        </p:nvSpPr>
        <p:spPr>
          <a:xfrm>
            <a:off x="9171203" y="1207008"/>
            <a:ext cx="64008" cy="640080"/>
          </a:xfrm>
          <a:prstGeom prst="rect">
            <a:avLst/>
          </a:prstGeom>
          <a:solidFill>
            <a:srgbClr val="163560"/>
          </a:solidFill>
          <a:ln w="12700">
            <a:solidFill>
              <a:srgbClr val="163560"/>
            </a:solidFill>
            <a:prstDash val="solid"/>
          </a:ln>
        </p:spPr>
        <p:txBody>
          <a:bodyPr/>
          <a:lstStyle/>
          <a:p>
            <a:endParaRPr lang="en-LK"/>
          </a:p>
        </p:txBody>
      </p:sp>
      <p:sp>
        <p:nvSpPr>
          <p:cNvPr id="103" name="Text 97"/>
          <p:cNvSpPr/>
          <p:nvPr/>
        </p:nvSpPr>
        <p:spPr>
          <a:xfrm>
            <a:off x="9317507" y="1252728"/>
            <a:ext cx="2526716" cy="274320"/>
          </a:xfrm>
          <a:prstGeom prst="rect">
            <a:avLst/>
          </a:prstGeom>
          <a:noFill/>
          <a:ln/>
        </p:spPr>
        <p:txBody>
          <a:bodyPr wrap="square" lIns="0" tIns="0" rIns="0" bIns="0" rtlCol="0" anchor="b"/>
          <a:lstStyle/>
          <a:p>
            <a:pPr marL="0" indent="0">
              <a:buNone/>
            </a:pPr>
            <a:r>
              <a:rPr lang="en-US" sz="1700" b="1" dirty="0">
                <a:solidFill>
                  <a:srgbClr val="163560"/>
                </a:solidFill>
                <a:latin typeface="Georgia" pitchFamily="34" charset="0"/>
                <a:ea typeface="Georgia" pitchFamily="34" charset="-122"/>
                <a:cs typeface="Georgia" pitchFamily="34" charset="-120"/>
              </a:rPr>
              <a:t>r = +0.79</a:t>
            </a:r>
            <a:endParaRPr lang="en-US" sz="1700" dirty="0"/>
          </a:p>
        </p:txBody>
      </p:sp>
      <p:sp>
        <p:nvSpPr>
          <p:cNvPr id="104" name="Text 98"/>
          <p:cNvSpPr/>
          <p:nvPr/>
        </p:nvSpPr>
        <p:spPr>
          <a:xfrm>
            <a:off x="9317507" y="1536192"/>
            <a:ext cx="2526716" cy="164592"/>
          </a:xfrm>
          <a:prstGeom prst="rect">
            <a:avLst/>
          </a:prstGeom>
          <a:noFill/>
          <a:ln/>
        </p:spPr>
        <p:txBody>
          <a:bodyPr wrap="square" lIns="0" tIns="0" rIns="0" bIns="0" rtlCol="0" anchor="ctr"/>
          <a:lstStyle/>
          <a:p>
            <a:pPr marL="0" indent="0">
              <a:buNone/>
            </a:pPr>
            <a:r>
              <a:rPr lang="en-US" sz="840" b="1" dirty="0">
                <a:solidFill>
                  <a:srgbClr val="1A1A1A"/>
                </a:solidFill>
                <a:latin typeface="Arial" pitchFamily="34" charset="0"/>
                <a:ea typeface="Arial" pitchFamily="34" charset="-122"/>
                <a:cs typeface="Arial" pitchFamily="34" charset="-120"/>
              </a:rPr>
              <a:t>Income predicts health</a:t>
            </a:r>
            <a:endParaRPr lang="en-US" sz="840" dirty="0"/>
          </a:p>
        </p:txBody>
      </p:sp>
      <p:sp>
        <p:nvSpPr>
          <p:cNvPr id="105" name="Text 99"/>
          <p:cNvSpPr/>
          <p:nvPr/>
        </p:nvSpPr>
        <p:spPr>
          <a:xfrm>
            <a:off x="9317507" y="1691640"/>
            <a:ext cx="2526716" cy="182880"/>
          </a:xfrm>
          <a:prstGeom prst="rect">
            <a:avLst/>
          </a:prstGeom>
          <a:noFill/>
          <a:ln/>
        </p:spPr>
        <p:txBody>
          <a:bodyPr wrap="square" lIns="0" tIns="0" rIns="0" bIns="0" rtlCol="0" anchor="ctr"/>
          <a:lstStyle/>
          <a:p>
            <a:pPr marL="0" indent="0">
              <a:buNone/>
            </a:pPr>
            <a:r>
              <a:rPr lang="en-US" sz="730" dirty="0">
                <a:solidFill>
                  <a:srgbClr val="5A6472"/>
                </a:solidFill>
                <a:latin typeface="Arial" pitchFamily="34" charset="0"/>
                <a:ea typeface="Arial" pitchFamily="34" charset="-122"/>
                <a:cs typeface="Arial" pitchFamily="34" charset="-120"/>
              </a:rPr>
              <a:t>log(GDP) explains 62.8% of life-expectancy variance (p&lt;0.001).</a:t>
            </a:r>
            <a:endParaRPr lang="en-US" sz="730" dirty="0"/>
          </a:p>
        </p:txBody>
      </p:sp>
      <p:sp>
        <p:nvSpPr>
          <p:cNvPr id="106" name="Shape 100"/>
          <p:cNvSpPr/>
          <p:nvPr/>
        </p:nvSpPr>
        <p:spPr>
          <a:xfrm>
            <a:off x="9171203" y="1929384"/>
            <a:ext cx="2746172" cy="640080"/>
          </a:xfrm>
          <a:prstGeom prst="rect">
            <a:avLst/>
          </a:prstGeom>
          <a:solidFill>
            <a:srgbClr val="E2F2F1"/>
          </a:solidFill>
          <a:ln w="12700">
            <a:solidFill>
              <a:srgbClr val="D8DEE6"/>
            </a:solidFill>
            <a:prstDash val="solid"/>
          </a:ln>
        </p:spPr>
        <p:txBody>
          <a:bodyPr/>
          <a:lstStyle/>
          <a:p>
            <a:endParaRPr lang="en-LK"/>
          </a:p>
        </p:txBody>
      </p:sp>
      <p:sp>
        <p:nvSpPr>
          <p:cNvPr id="107" name="Shape 101"/>
          <p:cNvSpPr/>
          <p:nvPr/>
        </p:nvSpPr>
        <p:spPr>
          <a:xfrm>
            <a:off x="9171203" y="1929384"/>
            <a:ext cx="64008" cy="640080"/>
          </a:xfrm>
          <a:prstGeom prst="rect">
            <a:avLst/>
          </a:prstGeom>
          <a:solidFill>
            <a:srgbClr val="0E7C7B"/>
          </a:solidFill>
          <a:ln w="12700">
            <a:solidFill>
              <a:srgbClr val="0E7C7B"/>
            </a:solidFill>
            <a:prstDash val="solid"/>
          </a:ln>
        </p:spPr>
        <p:txBody>
          <a:bodyPr/>
          <a:lstStyle/>
          <a:p>
            <a:endParaRPr lang="en-LK"/>
          </a:p>
        </p:txBody>
      </p:sp>
      <p:sp>
        <p:nvSpPr>
          <p:cNvPr id="108" name="Text 102"/>
          <p:cNvSpPr/>
          <p:nvPr/>
        </p:nvSpPr>
        <p:spPr>
          <a:xfrm>
            <a:off x="9317507" y="1975104"/>
            <a:ext cx="2526716" cy="274320"/>
          </a:xfrm>
          <a:prstGeom prst="rect">
            <a:avLst/>
          </a:prstGeom>
          <a:noFill/>
          <a:ln/>
        </p:spPr>
        <p:txBody>
          <a:bodyPr wrap="square" lIns="0" tIns="0" rIns="0" bIns="0" rtlCol="0" anchor="b"/>
          <a:lstStyle/>
          <a:p>
            <a:pPr marL="0" indent="0">
              <a:buNone/>
            </a:pPr>
            <a:r>
              <a:rPr lang="en-US" sz="1700" b="1" dirty="0">
                <a:solidFill>
                  <a:srgbClr val="0E7C7B"/>
                </a:solidFill>
                <a:latin typeface="Georgia" pitchFamily="34" charset="0"/>
                <a:ea typeface="Georgia" pitchFamily="34" charset="-122"/>
                <a:cs typeface="Georgia" pitchFamily="34" charset="-120"/>
              </a:rPr>
              <a:t>+5 yrs</a:t>
            </a:r>
            <a:endParaRPr lang="en-US" sz="1700" dirty="0"/>
          </a:p>
        </p:txBody>
      </p:sp>
      <p:sp>
        <p:nvSpPr>
          <p:cNvPr id="109" name="Text 103"/>
          <p:cNvSpPr/>
          <p:nvPr/>
        </p:nvSpPr>
        <p:spPr>
          <a:xfrm>
            <a:off x="9317507" y="2258568"/>
            <a:ext cx="2526716" cy="164592"/>
          </a:xfrm>
          <a:prstGeom prst="rect">
            <a:avLst/>
          </a:prstGeom>
          <a:noFill/>
          <a:ln/>
        </p:spPr>
        <p:txBody>
          <a:bodyPr wrap="square" lIns="0" tIns="0" rIns="0" bIns="0" rtlCol="0" anchor="ctr"/>
          <a:lstStyle/>
          <a:p>
            <a:pPr marL="0" indent="0">
              <a:buNone/>
            </a:pPr>
            <a:r>
              <a:rPr lang="en-US" sz="840" b="1" dirty="0">
                <a:solidFill>
                  <a:srgbClr val="1A1A1A"/>
                </a:solidFill>
                <a:latin typeface="Arial" pitchFamily="34" charset="0"/>
                <a:ea typeface="Arial" pitchFamily="34" charset="-122"/>
                <a:cs typeface="Arial" pitchFamily="34" charset="-120"/>
              </a:rPr>
              <a:t>Curve shifted upward</a:t>
            </a:r>
            <a:endParaRPr lang="en-US" sz="840" dirty="0"/>
          </a:p>
        </p:txBody>
      </p:sp>
      <p:sp>
        <p:nvSpPr>
          <p:cNvPr id="110" name="Text 104"/>
          <p:cNvSpPr/>
          <p:nvPr/>
        </p:nvSpPr>
        <p:spPr>
          <a:xfrm>
            <a:off x="9317507" y="2414016"/>
            <a:ext cx="2526716" cy="182880"/>
          </a:xfrm>
          <a:prstGeom prst="rect">
            <a:avLst/>
          </a:prstGeom>
          <a:noFill/>
          <a:ln/>
        </p:spPr>
        <p:txBody>
          <a:bodyPr wrap="square" lIns="0" tIns="0" rIns="0" bIns="0" rtlCol="0" anchor="ctr"/>
          <a:lstStyle/>
          <a:p>
            <a:pPr marL="0" indent="0">
              <a:buNone/>
            </a:pPr>
            <a:r>
              <a:rPr lang="en-US" sz="730" dirty="0">
                <a:solidFill>
                  <a:srgbClr val="5A6472"/>
                </a:solidFill>
                <a:latin typeface="Arial" pitchFamily="34" charset="0"/>
                <a:ea typeface="Arial" pitchFamily="34" charset="-122"/>
                <a:cs typeface="Arial" pitchFamily="34" charset="-120"/>
              </a:rPr>
              <a:t>Same income buys ~5 more years in 2022 than 1990.</a:t>
            </a:r>
            <a:endParaRPr lang="en-US" sz="730" dirty="0"/>
          </a:p>
        </p:txBody>
      </p:sp>
      <p:sp>
        <p:nvSpPr>
          <p:cNvPr id="111" name="Shape 105"/>
          <p:cNvSpPr/>
          <p:nvPr/>
        </p:nvSpPr>
        <p:spPr>
          <a:xfrm>
            <a:off x="9171203" y="2651760"/>
            <a:ext cx="2746172" cy="640080"/>
          </a:xfrm>
          <a:prstGeom prst="rect">
            <a:avLst/>
          </a:prstGeom>
          <a:solidFill>
            <a:srgbClr val="FCF1E0"/>
          </a:solidFill>
          <a:ln w="12700">
            <a:solidFill>
              <a:srgbClr val="D8DEE6"/>
            </a:solidFill>
            <a:prstDash val="solid"/>
          </a:ln>
        </p:spPr>
        <p:txBody>
          <a:bodyPr/>
          <a:lstStyle/>
          <a:p>
            <a:endParaRPr lang="en-LK"/>
          </a:p>
        </p:txBody>
      </p:sp>
      <p:sp>
        <p:nvSpPr>
          <p:cNvPr id="112" name="Shape 106"/>
          <p:cNvSpPr/>
          <p:nvPr/>
        </p:nvSpPr>
        <p:spPr>
          <a:xfrm>
            <a:off x="9171203" y="2651760"/>
            <a:ext cx="64008" cy="640080"/>
          </a:xfrm>
          <a:prstGeom prst="rect">
            <a:avLst/>
          </a:prstGeom>
          <a:solidFill>
            <a:srgbClr val="C8790C"/>
          </a:solidFill>
          <a:ln w="12700">
            <a:solidFill>
              <a:srgbClr val="C8790C"/>
            </a:solidFill>
            <a:prstDash val="solid"/>
          </a:ln>
        </p:spPr>
        <p:txBody>
          <a:bodyPr/>
          <a:lstStyle/>
          <a:p>
            <a:endParaRPr lang="en-LK"/>
          </a:p>
        </p:txBody>
      </p:sp>
      <p:sp>
        <p:nvSpPr>
          <p:cNvPr id="113" name="Text 107"/>
          <p:cNvSpPr/>
          <p:nvPr/>
        </p:nvSpPr>
        <p:spPr>
          <a:xfrm>
            <a:off x="9317507" y="2697480"/>
            <a:ext cx="2526716" cy="274320"/>
          </a:xfrm>
          <a:prstGeom prst="rect">
            <a:avLst/>
          </a:prstGeom>
          <a:noFill/>
          <a:ln/>
        </p:spPr>
        <p:txBody>
          <a:bodyPr wrap="square" lIns="0" tIns="0" rIns="0" bIns="0" rtlCol="0" anchor="b"/>
          <a:lstStyle/>
          <a:p>
            <a:pPr marL="0" indent="0">
              <a:buNone/>
            </a:pPr>
            <a:r>
              <a:rPr lang="en-US" sz="1700" b="1" dirty="0">
                <a:solidFill>
                  <a:srgbClr val="C8790C"/>
                </a:solidFill>
                <a:latin typeface="Georgia" pitchFamily="34" charset="0"/>
                <a:ea typeface="Georgia" pitchFamily="34" charset="-122"/>
                <a:cs typeface="Georgia" pitchFamily="34" charset="-120"/>
              </a:rPr>
              <a:t>18.4 yrs</a:t>
            </a:r>
            <a:endParaRPr lang="en-US" sz="1700" dirty="0"/>
          </a:p>
        </p:txBody>
      </p:sp>
      <p:sp>
        <p:nvSpPr>
          <p:cNvPr id="114" name="Text 108"/>
          <p:cNvSpPr/>
          <p:nvPr/>
        </p:nvSpPr>
        <p:spPr>
          <a:xfrm>
            <a:off x="9317507" y="2980944"/>
            <a:ext cx="2526716" cy="164592"/>
          </a:xfrm>
          <a:prstGeom prst="rect">
            <a:avLst/>
          </a:prstGeom>
          <a:noFill/>
          <a:ln/>
        </p:spPr>
        <p:txBody>
          <a:bodyPr wrap="square" lIns="0" tIns="0" rIns="0" bIns="0" rtlCol="0" anchor="ctr"/>
          <a:lstStyle/>
          <a:p>
            <a:pPr marL="0" indent="0">
              <a:buNone/>
            </a:pPr>
            <a:r>
              <a:rPr lang="en-US" sz="840" b="1" dirty="0">
                <a:solidFill>
                  <a:srgbClr val="1A1A1A"/>
                </a:solidFill>
                <a:latin typeface="Arial" pitchFamily="34" charset="0"/>
                <a:ea typeface="Arial" pitchFamily="34" charset="-122"/>
                <a:cs typeface="Arial" pitchFamily="34" charset="-120"/>
              </a:rPr>
              <a:t>Income-group gap</a:t>
            </a:r>
            <a:endParaRPr lang="en-US" sz="840" dirty="0"/>
          </a:p>
        </p:txBody>
      </p:sp>
      <p:sp>
        <p:nvSpPr>
          <p:cNvPr id="115" name="Text 109"/>
          <p:cNvSpPr/>
          <p:nvPr/>
        </p:nvSpPr>
        <p:spPr>
          <a:xfrm>
            <a:off x="9317507" y="3136392"/>
            <a:ext cx="2526716" cy="182880"/>
          </a:xfrm>
          <a:prstGeom prst="rect">
            <a:avLst/>
          </a:prstGeom>
          <a:noFill/>
          <a:ln/>
        </p:spPr>
        <p:txBody>
          <a:bodyPr wrap="square" lIns="0" tIns="0" rIns="0" bIns="0" rtlCol="0" anchor="ctr"/>
          <a:lstStyle/>
          <a:p>
            <a:pPr marL="0" indent="0">
              <a:buNone/>
            </a:pPr>
            <a:r>
              <a:rPr lang="en-US" sz="730" dirty="0">
                <a:solidFill>
                  <a:srgbClr val="5A6472"/>
                </a:solidFill>
                <a:latin typeface="Arial" pitchFamily="34" charset="0"/>
                <a:ea typeface="Arial" pitchFamily="34" charset="-122"/>
                <a:cs typeface="Arial" pitchFamily="34" charset="-120"/>
              </a:rPr>
              <a:t>Low 61.2 vs high 79.6 yrs median life expectancy.</a:t>
            </a:r>
            <a:endParaRPr lang="en-US" sz="730" dirty="0"/>
          </a:p>
        </p:txBody>
      </p:sp>
      <p:sp>
        <p:nvSpPr>
          <p:cNvPr id="116" name="Shape 110"/>
          <p:cNvSpPr/>
          <p:nvPr/>
        </p:nvSpPr>
        <p:spPr>
          <a:xfrm>
            <a:off x="9171203" y="3374136"/>
            <a:ext cx="2746172" cy="640080"/>
          </a:xfrm>
          <a:prstGeom prst="rect">
            <a:avLst/>
          </a:prstGeom>
          <a:solidFill>
            <a:srgbClr val="FBEAE8"/>
          </a:solidFill>
          <a:ln w="12700">
            <a:solidFill>
              <a:srgbClr val="D8DEE6"/>
            </a:solidFill>
            <a:prstDash val="solid"/>
          </a:ln>
        </p:spPr>
        <p:txBody>
          <a:bodyPr/>
          <a:lstStyle/>
          <a:p>
            <a:endParaRPr lang="en-LK"/>
          </a:p>
        </p:txBody>
      </p:sp>
      <p:sp>
        <p:nvSpPr>
          <p:cNvPr id="117" name="Shape 111"/>
          <p:cNvSpPr/>
          <p:nvPr/>
        </p:nvSpPr>
        <p:spPr>
          <a:xfrm>
            <a:off x="9171203" y="3374136"/>
            <a:ext cx="64008" cy="640080"/>
          </a:xfrm>
          <a:prstGeom prst="rect">
            <a:avLst/>
          </a:prstGeom>
          <a:solidFill>
            <a:srgbClr val="B83227"/>
          </a:solidFill>
          <a:ln w="12700">
            <a:solidFill>
              <a:srgbClr val="B83227"/>
            </a:solidFill>
            <a:prstDash val="solid"/>
          </a:ln>
        </p:spPr>
        <p:txBody>
          <a:bodyPr/>
          <a:lstStyle/>
          <a:p>
            <a:endParaRPr lang="en-LK"/>
          </a:p>
        </p:txBody>
      </p:sp>
      <p:sp>
        <p:nvSpPr>
          <p:cNvPr id="118" name="Text 112"/>
          <p:cNvSpPr/>
          <p:nvPr/>
        </p:nvSpPr>
        <p:spPr>
          <a:xfrm>
            <a:off x="9317507" y="3419856"/>
            <a:ext cx="2526716" cy="274320"/>
          </a:xfrm>
          <a:prstGeom prst="rect">
            <a:avLst/>
          </a:prstGeom>
          <a:noFill/>
          <a:ln/>
        </p:spPr>
        <p:txBody>
          <a:bodyPr wrap="square" lIns="0" tIns="0" rIns="0" bIns="0" rtlCol="0" anchor="b"/>
          <a:lstStyle/>
          <a:p>
            <a:pPr marL="0" indent="0">
              <a:buNone/>
            </a:pPr>
            <a:r>
              <a:rPr lang="en-US" sz="1700" b="1" dirty="0">
                <a:solidFill>
                  <a:srgbClr val="B83227"/>
                </a:solidFill>
                <a:latin typeface="Georgia" pitchFamily="34" charset="0"/>
                <a:ea typeface="Georgia" pitchFamily="34" charset="-122"/>
                <a:cs typeface="Georgia" pitchFamily="34" charset="-120"/>
              </a:rPr>
              <a:t>−1.6 yrs</a:t>
            </a:r>
            <a:endParaRPr lang="en-US" sz="1700" dirty="0"/>
          </a:p>
        </p:txBody>
      </p:sp>
      <p:sp>
        <p:nvSpPr>
          <p:cNvPr id="119" name="Text 113"/>
          <p:cNvSpPr/>
          <p:nvPr/>
        </p:nvSpPr>
        <p:spPr>
          <a:xfrm>
            <a:off x="9317507" y="3703320"/>
            <a:ext cx="2526716" cy="164592"/>
          </a:xfrm>
          <a:prstGeom prst="rect">
            <a:avLst/>
          </a:prstGeom>
          <a:noFill/>
          <a:ln/>
        </p:spPr>
        <p:txBody>
          <a:bodyPr wrap="square" lIns="0" tIns="0" rIns="0" bIns="0" rtlCol="0" anchor="ctr"/>
          <a:lstStyle/>
          <a:p>
            <a:pPr marL="0" indent="0">
              <a:buNone/>
            </a:pPr>
            <a:r>
              <a:rPr lang="en-US" sz="840" b="1" dirty="0">
                <a:solidFill>
                  <a:srgbClr val="1A1A1A"/>
                </a:solidFill>
                <a:latin typeface="Arial" pitchFamily="34" charset="0"/>
                <a:ea typeface="Arial" pitchFamily="34" charset="-122"/>
                <a:cs typeface="Arial" pitchFamily="34" charset="-120"/>
              </a:rPr>
              <a:t>COVID-19 reversal</a:t>
            </a:r>
            <a:endParaRPr lang="en-US" sz="840" dirty="0"/>
          </a:p>
        </p:txBody>
      </p:sp>
      <p:sp>
        <p:nvSpPr>
          <p:cNvPr id="120" name="Text 114"/>
          <p:cNvSpPr/>
          <p:nvPr/>
        </p:nvSpPr>
        <p:spPr>
          <a:xfrm>
            <a:off x="9317507" y="3858768"/>
            <a:ext cx="2526716" cy="182880"/>
          </a:xfrm>
          <a:prstGeom prst="rect">
            <a:avLst/>
          </a:prstGeom>
          <a:noFill/>
          <a:ln/>
        </p:spPr>
        <p:txBody>
          <a:bodyPr wrap="square" lIns="0" tIns="0" rIns="0" bIns="0" rtlCol="0" anchor="ctr"/>
          <a:lstStyle/>
          <a:p>
            <a:pPr marL="0" indent="0">
              <a:buNone/>
            </a:pPr>
            <a:r>
              <a:rPr lang="en-US" sz="730" dirty="0">
                <a:solidFill>
                  <a:srgbClr val="5A6472"/>
                </a:solidFill>
                <a:latin typeface="Arial" pitchFamily="34" charset="0"/>
                <a:ea typeface="Arial" pitchFamily="34" charset="-122"/>
                <a:cs typeface="Arial" pitchFamily="34" charset="-120"/>
              </a:rPr>
              <a:t>73.3 to 71.7 yrs (2019–21), a decade of progress lost.</a:t>
            </a:r>
            <a:endParaRPr lang="en-US" sz="730" dirty="0"/>
          </a:p>
        </p:txBody>
      </p:sp>
      <p:sp>
        <p:nvSpPr>
          <p:cNvPr id="121" name="Shape 115"/>
          <p:cNvSpPr/>
          <p:nvPr/>
        </p:nvSpPr>
        <p:spPr>
          <a:xfrm>
            <a:off x="9171203" y="4096512"/>
            <a:ext cx="2746172" cy="640080"/>
          </a:xfrm>
          <a:prstGeom prst="rect">
            <a:avLst/>
          </a:prstGeom>
          <a:solidFill>
            <a:srgbClr val="E6F4EC"/>
          </a:solidFill>
          <a:ln w="12700">
            <a:solidFill>
              <a:srgbClr val="D8DEE6"/>
            </a:solidFill>
            <a:prstDash val="solid"/>
          </a:ln>
        </p:spPr>
        <p:txBody>
          <a:bodyPr/>
          <a:lstStyle/>
          <a:p>
            <a:endParaRPr lang="en-LK"/>
          </a:p>
        </p:txBody>
      </p:sp>
      <p:sp>
        <p:nvSpPr>
          <p:cNvPr id="122" name="Shape 116"/>
          <p:cNvSpPr/>
          <p:nvPr/>
        </p:nvSpPr>
        <p:spPr>
          <a:xfrm>
            <a:off x="9171203" y="4096512"/>
            <a:ext cx="64008" cy="640080"/>
          </a:xfrm>
          <a:prstGeom prst="rect">
            <a:avLst/>
          </a:prstGeom>
          <a:solidFill>
            <a:srgbClr val="1C7A47"/>
          </a:solidFill>
          <a:ln w="12700">
            <a:solidFill>
              <a:srgbClr val="1C7A47"/>
            </a:solidFill>
            <a:prstDash val="solid"/>
          </a:ln>
        </p:spPr>
        <p:txBody>
          <a:bodyPr/>
          <a:lstStyle/>
          <a:p>
            <a:endParaRPr lang="en-LK"/>
          </a:p>
        </p:txBody>
      </p:sp>
      <p:sp>
        <p:nvSpPr>
          <p:cNvPr id="123" name="Text 117"/>
          <p:cNvSpPr/>
          <p:nvPr/>
        </p:nvSpPr>
        <p:spPr>
          <a:xfrm>
            <a:off x="9317507" y="4142232"/>
            <a:ext cx="2526716" cy="274320"/>
          </a:xfrm>
          <a:prstGeom prst="rect">
            <a:avLst/>
          </a:prstGeom>
          <a:noFill/>
          <a:ln/>
        </p:spPr>
        <p:txBody>
          <a:bodyPr wrap="square" lIns="0" tIns="0" rIns="0" bIns="0" rtlCol="0" anchor="b"/>
          <a:lstStyle/>
          <a:p>
            <a:pPr marL="0" indent="0">
              <a:buNone/>
            </a:pPr>
            <a:r>
              <a:rPr lang="en-US" sz="1700" b="1" dirty="0">
                <a:solidFill>
                  <a:srgbClr val="1C7A47"/>
                </a:solidFill>
                <a:latin typeface="Georgia" pitchFamily="34" charset="0"/>
                <a:ea typeface="Georgia" pitchFamily="34" charset="-122"/>
                <a:cs typeface="Georgia" pitchFamily="34" charset="-120"/>
              </a:rPr>
              <a:t>r = −0.71</a:t>
            </a:r>
            <a:endParaRPr lang="en-US" sz="1700" dirty="0"/>
          </a:p>
        </p:txBody>
      </p:sp>
      <p:sp>
        <p:nvSpPr>
          <p:cNvPr id="124" name="Text 118"/>
          <p:cNvSpPr/>
          <p:nvPr/>
        </p:nvSpPr>
        <p:spPr>
          <a:xfrm>
            <a:off x="9317507" y="4425696"/>
            <a:ext cx="2526716" cy="164592"/>
          </a:xfrm>
          <a:prstGeom prst="rect">
            <a:avLst/>
          </a:prstGeom>
          <a:noFill/>
          <a:ln/>
        </p:spPr>
        <p:txBody>
          <a:bodyPr wrap="square" lIns="0" tIns="0" rIns="0" bIns="0" rtlCol="0" anchor="ctr"/>
          <a:lstStyle/>
          <a:p>
            <a:pPr marL="0" indent="0">
              <a:buNone/>
            </a:pPr>
            <a:r>
              <a:rPr lang="en-US" sz="840" b="1" dirty="0">
                <a:solidFill>
                  <a:srgbClr val="1A1A1A"/>
                </a:solidFill>
                <a:latin typeface="Arial" pitchFamily="34" charset="0"/>
                <a:ea typeface="Arial" pitchFamily="34" charset="-122"/>
                <a:cs typeface="Arial" pitchFamily="34" charset="-120"/>
              </a:rPr>
              <a:t>Demographic transition</a:t>
            </a:r>
            <a:endParaRPr lang="en-US" sz="840" dirty="0"/>
          </a:p>
        </p:txBody>
      </p:sp>
      <p:sp>
        <p:nvSpPr>
          <p:cNvPr id="125" name="Text 119"/>
          <p:cNvSpPr/>
          <p:nvPr/>
        </p:nvSpPr>
        <p:spPr>
          <a:xfrm>
            <a:off x="9317507" y="4581144"/>
            <a:ext cx="2526716" cy="182880"/>
          </a:xfrm>
          <a:prstGeom prst="rect">
            <a:avLst/>
          </a:prstGeom>
          <a:noFill/>
          <a:ln/>
        </p:spPr>
        <p:txBody>
          <a:bodyPr wrap="square" lIns="0" tIns="0" rIns="0" bIns="0" rtlCol="0" anchor="ctr"/>
          <a:lstStyle/>
          <a:p>
            <a:pPr marL="0" indent="0">
              <a:buNone/>
            </a:pPr>
            <a:r>
              <a:rPr lang="en-US" sz="730" dirty="0">
                <a:solidFill>
                  <a:srgbClr val="5A6472"/>
                </a:solidFill>
                <a:latin typeface="Arial" pitchFamily="34" charset="0"/>
                <a:ea typeface="Arial" pitchFamily="34" charset="-122"/>
                <a:cs typeface="Arial" pitchFamily="34" charset="-120"/>
              </a:rPr>
              <a:t>Richer, longer-lived nations grow more slowly.</a:t>
            </a:r>
            <a:endParaRPr lang="en-US" sz="730" dirty="0"/>
          </a:p>
        </p:txBody>
      </p:sp>
      <p:sp>
        <p:nvSpPr>
          <p:cNvPr id="126" name="Text 120"/>
          <p:cNvSpPr/>
          <p:nvPr/>
        </p:nvSpPr>
        <p:spPr>
          <a:xfrm>
            <a:off x="9171203" y="4837176"/>
            <a:ext cx="2746172" cy="219456"/>
          </a:xfrm>
          <a:prstGeom prst="rect">
            <a:avLst/>
          </a:prstGeom>
          <a:noFill/>
          <a:ln/>
        </p:spPr>
        <p:txBody>
          <a:bodyPr wrap="square" lIns="0" tIns="0" rIns="0" bIns="0" rtlCol="0" anchor="ctr"/>
          <a:lstStyle/>
          <a:p>
            <a:pPr marL="0" indent="0">
              <a:buNone/>
            </a:pPr>
            <a:r>
              <a:rPr lang="en-US" sz="1050" b="1" kern="0" spc="60" dirty="0">
                <a:solidFill>
                  <a:srgbClr val="C8790C"/>
                </a:solidFill>
                <a:latin typeface="Arial" pitchFamily="34" charset="0"/>
                <a:ea typeface="Arial" pitchFamily="34" charset="-122"/>
                <a:cs typeface="Arial" pitchFamily="34" charset="-120"/>
              </a:rPr>
              <a:t>POWER BI DASHBOARD</a:t>
            </a:r>
            <a:endParaRPr lang="en-US" sz="1050" dirty="0"/>
          </a:p>
        </p:txBody>
      </p:sp>
      <p:sp>
        <p:nvSpPr>
          <p:cNvPr id="127" name="Shape 121"/>
          <p:cNvSpPr/>
          <p:nvPr/>
        </p:nvSpPr>
        <p:spPr>
          <a:xfrm>
            <a:off x="9171203" y="5070348"/>
            <a:ext cx="2746172" cy="20117"/>
          </a:xfrm>
          <a:prstGeom prst="rect">
            <a:avLst/>
          </a:prstGeom>
          <a:solidFill>
            <a:srgbClr val="C8790C"/>
          </a:solidFill>
          <a:ln w="12700">
            <a:solidFill>
              <a:srgbClr val="C8790C"/>
            </a:solidFill>
            <a:prstDash val="solid"/>
          </a:ln>
        </p:spPr>
        <p:txBody>
          <a:bodyPr/>
          <a:lstStyle/>
          <a:p>
            <a:endParaRPr lang="en-LK"/>
          </a:p>
        </p:txBody>
      </p:sp>
      <p:sp>
        <p:nvSpPr>
          <p:cNvPr id="128" name="Text 122"/>
          <p:cNvSpPr/>
          <p:nvPr/>
        </p:nvSpPr>
        <p:spPr>
          <a:xfrm>
            <a:off x="9171203" y="5111496"/>
            <a:ext cx="2746172" cy="749808"/>
          </a:xfrm>
          <a:prstGeom prst="rect">
            <a:avLst/>
          </a:prstGeom>
          <a:noFill/>
          <a:ln/>
        </p:spPr>
        <p:txBody>
          <a:bodyPr wrap="square" lIns="0" tIns="0" rIns="0" bIns="0" rtlCol="0" anchor="t"/>
          <a:lstStyle/>
          <a:p>
            <a:pPr marL="127000" indent="-127000">
              <a:spcAft>
                <a:spcPts val="400"/>
              </a:spcAft>
              <a:buSzPct val="100000"/>
              <a:buChar char="•"/>
            </a:pPr>
            <a:r>
              <a:rPr lang="en-US" sz="760" dirty="0">
                <a:solidFill>
                  <a:srgbClr val="1A1A1A"/>
                </a:solidFill>
                <a:latin typeface="Arial" pitchFamily="34" charset="0"/>
                <a:ea typeface="Arial" pitchFamily="34" charset="-122"/>
                <a:cs typeface="Arial" pitchFamily="34" charset="-120"/>
              </a:rPr>
              <a:t>Clustered bar — life expectancy by income</a:t>
            </a:r>
            <a:endParaRPr lang="en-US" sz="760" dirty="0"/>
          </a:p>
          <a:p>
            <a:pPr marL="127000" indent="-127000">
              <a:spcAft>
                <a:spcPts val="400"/>
              </a:spcAft>
              <a:buSzPct val="100000"/>
              <a:buChar char="•"/>
            </a:pPr>
            <a:r>
              <a:rPr lang="en-US" sz="760" dirty="0">
                <a:solidFill>
                  <a:srgbClr val="1A1A1A"/>
                </a:solidFill>
                <a:latin typeface="Arial" pitchFamily="34" charset="0"/>
                <a:ea typeface="Arial" pitchFamily="34" charset="-122"/>
                <a:cs typeface="Arial" pitchFamily="34" charset="-120"/>
              </a:rPr>
              <a:t>Line chart — regional trends 1990–2022</a:t>
            </a:r>
            <a:endParaRPr lang="en-US" sz="760" dirty="0"/>
          </a:p>
          <a:p>
            <a:pPr marL="127000" indent="-127000">
              <a:spcAft>
                <a:spcPts val="400"/>
              </a:spcAft>
              <a:buSzPct val="100000"/>
              <a:buChar char="•"/>
            </a:pPr>
            <a:r>
              <a:rPr lang="en-US" sz="760" dirty="0">
                <a:solidFill>
                  <a:srgbClr val="1A1A1A"/>
                </a:solidFill>
                <a:latin typeface="Arial" pitchFamily="34" charset="0"/>
                <a:ea typeface="Arial" pitchFamily="34" charset="-122"/>
                <a:cs typeface="Arial" pitchFamily="34" charset="-120"/>
              </a:rPr>
              <a:t>Animated scatter — Preston Curve</a:t>
            </a:r>
            <a:endParaRPr lang="en-US" sz="760" dirty="0"/>
          </a:p>
          <a:p>
            <a:pPr marL="127000" indent="-127000">
              <a:spcAft>
                <a:spcPts val="400"/>
              </a:spcAft>
              <a:buSzPct val="100000"/>
              <a:buChar char="•"/>
            </a:pPr>
            <a:r>
              <a:rPr lang="en-US" sz="760" dirty="0">
                <a:solidFill>
                  <a:srgbClr val="1A1A1A"/>
                </a:solidFill>
                <a:latin typeface="Arial" pitchFamily="34" charset="0"/>
                <a:ea typeface="Arial" pitchFamily="34" charset="-122"/>
                <a:cs typeface="Arial" pitchFamily="34" charset="-120"/>
              </a:rPr>
              <a:t>Filled map — life expectancy by country</a:t>
            </a:r>
            <a:endParaRPr lang="en-US" sz="760" dirty="0"/>
          </a:p>
          <a:p>
            <a:pPr marL="127000" indent="-127000">
              <a:spcAft>
                <a:spcPts val="400"/>
              </a:spcAft>
              <a:buSzPct val="100000"/>
              <a:buChar char="•"/>
            </a:pPr>
            <a:r>
              <a:rPr lang="en-US" sz="760" dirty="0">
                <a:solidFill>
                  <a:srgbClr val="1A1A1A"/>
                </a:solidFill>
                <a:latin typeface="Arial" pitchFamily="34" charset="0"/>
                <a:ea typeface="Arial" pitchFamily="34" charset="-122"/>
                <a:cs typeface="Arial" pitchFamily="34" charset="-120"/>
              </a:rPr>
              <a:t>KPI cards — 73.11 yrs · $21.09K · 1.11%</a:t>
            </a:r>
            <a:endParaRPr lang="en-US" sz="760" dirty="0"/>
          </a:p>
        </p:txBody>
      </p:sp>
      <p:sp>
        <p:nvSpPr>
          <p:cNvPr id="129" name="Text 123"/>
          <p:cNvSpPr/>
          <p:nvPr/>
        </p:nvSpPr>
        <p:spPr>
          <a:xfrm>
            <a:off x="9171203" y="5879592"/>
            <a:ext cx="2746172" cy="219456"/>
          </a:xfrm>
          <a:prstGeom prst="rect">
            <a:avLst/>
          </a:prstGeom>
          <a:noFill/>
          <a:ln/>
        </p:spPr>
        <p:txBody>
          <a:bodyPr wrap="square" lIns="0" tIns="0" rIns="0" bIns="0" rtlCol="0" anchor="ctr"/>
          <a:lstStyle/>
          <a:p>
            <a:pPr marL="0" indent="0">
              <a:buNone/>
            </a:pPr>
            <a:r>
              <a:rPr lang="en-US" sz="1050" b="1" kern="0" spc="60" dirty="0">
                <a:solidFill>
                  <a:srgbClr val="163560"/>
                </a:solidFill>
                <a:latin typeface="Arial" pitchFamily="34" charset="0"/>
                <a:ea typeface="Arial" pitchFamily="34" charset="-122"/>
                <a:cs typeface="Arial" pitchFamily="34" charset="-120"/>
              </a:rPr>
              <a:t>CONCLUSION</a:t>
            </a:r>
            <a:endParaRPr lang="en-US" sz="1050" dirty="0"/>
          </a:p>
        </p:txBody>
      </p:sp>
      <p:sp>
        <p:nvSpPr>
          <p:cNvPr id="130" name="Shape 124"/>
          <p:cNvSpPr/>
          <p:nvPr/>
        </p:nvSpPr>
        <p:spPr>
          <a:xfrm>
            <a:off x="9171203" y="6112764"/>
            <a:ext cx="2746172" cy="20117"/>
          </a:xfrm>
          <a:prstGeom prst="rect">
            <a:avLst/>
          </a:prstGeom>
          <a:solidFill>
            <a:srgbClr val="163560"/>
          </a:solidFill>
          <a:ln w="12700">
            <a:solidFill>
              <a:srgbClr val="163560"/>
            </a:solidFill>
            <a:prstDash val="solid"/>
          </a:ln>
        </p:spPr>
        <p:txBody>
          <a:bodyPr/>
          <a:lstStyle/>
          <a:p>
            <a:endParaRPr lang="en-LK"/>
          </a:p>
        </p:txBody>
      </p:sp>
      <p:sp>
        <p:nvSpPr>
          <p:cNvPr id="131" name="Text 125"/>
          <p:cNvSpPr/>
          <p:nvPr/>
        </p:nvSpPr>
        <p:spPr>
          <a:xfrm>
            <a:off x="9171203" y="6153912"/>
            <a:ext cx="2746172" cy="640080"/>
          </a:xfrm>
          <a:prstGeom prst="rect">
            <a:avLst/>
          </a:prstGeom>
          <a:noFill/>
          <a:ln/>
        </p:spPr>
        <p:txBody>
          <a:bodyPr wrap="square" lIns="0" tIns="0" rIns="0" bIns="0" rtlCol="0" anchor="t"/>
          <a:lstStyle/>
          <a:p>
            <a:pPr marL="0" indent="0" algn="just">
              <a:lnSpc>
                <a:spcPct val="100000"/>
              </a:lnSpc>
              <a:buNone/>
            </a:pPr>
            <a:r>
              <a:rPr lang="en-US" sz="780" dirty="0">
                <a:solidFill>
                  <a:srgbClr val="1A1A1A"/>
                </a:solidFill>
                <a:latin typeface="Arial" pitchFamily="34" charset="0"/>
                <a:ea typeface="Arial" pitchFamily="34" charset="-122"/>
                <a:cs typeface="Arial" pitchFamily="34" charset="-120"/>
              </a:rPr>
              <a:t>Income strongly predicts longevity, yet Cuba and Nigeria prove institutions matter as much as wealth. The curve's upward shift shows health gains arise independently of income, while COVID-19 exposed how fragile those gains remain.</a:t>
            </a:r>
            <a:endParaRPr lang="en-US" sz="780" dirty="0"/>
          </a:p>
        </p:txBody>
      </p:sp>
      <p:sp>
        <p:nvSpPr>
          <p:cNvPr id="132" name="Shape 126"/>
          <p:cNvSpPr/>
          <p:nvPr/>
        </p:nvSpPr>
        <p:spPr>
          <a:xfrm>
            <a:off x="3130220" y="896112"/>
            <a:ext cx="9144" cy="5632704"/>
          </a:xfrm>
          <a:prstGeom prst="rect">
            <a:avLst/>
          </a:prstGeom>
          <a:solidFill>
            <a:srgbClr val="D8DEE6"/>
          </a:solidFill>
          <a:ln w="12700">
            <a:solidFill>
              <a:srgbClr val="D8DEE6"/>
            </a:solidFill>
            <a:prstDash val="solid"/>
          </a:ln>
        </p:spPr>
        <p:txBody>
          <a:bodyPr/>
          <a:lstStyle/>
          <a:p>
            <a:endParaRPr lang="en-LK"/>
          </a:p>
        </p:txBody>
      </p:sp>
      <p:sp>
        <p:nvSpPr>
          <p:cNvPr id="133" name="Shape 127"/>
          <p:cNvSpPr/>
          <p:nvPr/>
        </p:nvSpPr>
        <p:spPr>
          <a:xfrm>
            <a:off x="6095848" y="896112"/>
            <a:ext cx="9144" cy="5632704"/>
          </a:xfrm>
          <a:prstGeom prst="rect">
            <a:avLst/>
          </a:prstGeom>
          <a:solidFill>
            <a:srgbClr val="D8DEE6"/>
          </a:solidFill>
          <a:ln w="12700">
            <a:solidFill>
              <a:srgbClr val="D8DEE6"/>
            </a:solidFill>
            <a:prstDash val="solid"/>
          </a:ln>
        </p:spPr>
        <p:txBody>
          <a:bodyPr/>
          <a:lstStyle/>
          <a:p>
            <a:endParaRPr lang="en-LK"/>
          </a:p>
        </p:txBody>
      </p:sp>
      <p:sp>
        <p:nvSpPr>
          <p:cNvPr id="134" name="Shape 128"/>
          <p:cNvSpPr/>
          <p:nvPr/>
        </p:nvSpPr>
        <p:spPr>
          <a:xfrm>
            <a:off x="9061475" y="896112"/>
            <a:ext cx="9144" cy="5632704"/>
          </a:xfrm>
          <a:prstGeom prst="rect">
            <a:avLst/>
          </a:prstGeom>
          <a:solidFill>
            <a:srgbClr val="D8DEE6"/>
          </a:solidFill>
          <a:ln w="12700">
            <a:solidFill>
              <a:srgbClr val="D8DEE6"/>
            </a:solidFill>
            <a:prstDash val="solid"/>
          </a:ln>
        </p:spPr>
        <p:txBody>
          <a:bodyPr/>
          <a:lstStyle/>
          <a:p>
            <a:endParaRPr lang="en-LK"/>
          </a:p>
        </p:txBody>
      </p:sp>
      <p:sp>
        <p:nvSpPr>
          <p:cNvPr id="135" name="Shape 129"/>
          <p:cNvSpPr/>
          <p:nvPr/>
        </p:nvSpPr>
        <p:spPr>
          <a:xfrm flipV="1">
            <a:off x="0" y="6858000"/>
            <a:ext cx="12191695" cy="234284"/>
          </a:xfrm>
          <a:prstGeom prst="rect">
            <a:avLst/>
          </a:prstGeom>
          <a:solidFill>
            <a:srgbClr val="163560"/>
          </a:solidFill>
          <a:ln w="12700">
            <a:solidFill>
              <a:srgbClr val="163560"/>
            </a:solidFill>
            <a:prstDash val="solid"/>
          </a:ln>
        </p:spPr>
        <p:txBody>
          <a:bodyPr/>
          <a:lstStyle/>
          <a:p>
            <a:endParaRPr lang="en-LK"/>
          </a:p>
        </p:txBody>
      </p:sp>
      <p:sp>
        <p:nvSpPr>
          <p:cNvPr id="136" name="Text 130"/>
          <p:cNvSpPr/>
          <p:nvPr/>
        </p:nvSpPr>
        <p:spPr>
          <a:xfrm>
            <a:off x="274319" y="6854540"/>
            <a:ext cx="11643055" cy="201168"/>
          </a:xfrm>
          <a:prstGeom prst="rect">
            <a:avLst/>
          </a:prstGeom>
          <a:noFill/>
          <a:ln/>
        </p:spPr>
        <p:txBody>
          <a:bodyPr wrap="square" lIns="0" tIns="0" rIns="0" bIns="0" rtlCol="0" anchor="ctr"/>
          <a:lstStyle/>
          <a:p>
            <a:pPr marL="0" indent="0" algn="ctr">
              <a:buNone/>
            </a:pPr>
            <a:r>
              <a:rPr lang="en-US" sz="700" dirty="0">
                <a:solidFill>
                  <a:srgbClr val="AFCBEC"/>
                </a:solidFill>
                <a:latin typeface="Arial" pitchFamily="34" charset="0"/>
                <a:ea typeface="Arial" pitchFamily="34" charset="-122"/>
                <a:cs typeface="Arial" pitchFamily="34" charset="-120"/>
              </a:rPr>
              <a:t>York St John University · MSc Data Science · LDS7004M Data Visualisation · Nareshkumar Shanmugathas · 250274615 · Source: World Bank WDI (1990–2022)</a:t>
            </a:r>
            <a:endParaRPr lang="en-US" sz="700" dirty="0"/>
          </a:p>
        </p:txBody>
      </p:sp>
      <p:pic>
        <p:nvPicPr>
          <p:cNvPr id="1026" name="Picture 2">
            <a:extLst>
              <a:ext uri="{FF2B5EF4-FFF2-40B4-BE49-F238E27FC236}">
                <a16:creationId xmlns:a16="http://schemas.microsoft.com/office/drawing/2014/main" id="{9393DCBD-E075-4A60-EC94-35DB6237A3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49372" y="150806"/>
            <a:ext cx="1394851" cy="4536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664</Words>
  <Application>Microsoft Macintosh PowerPoint</Application>
  <PresentationFormat>Widescreen</PresentationFormat>
  <Paragraphs>89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Georgia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s.nareshkumar94@outlook.com</cp:lastModifiedBy>
  <cp:revision>3</cp:revision>
  <dcterms:created xsi:type="dcterms:W3CDTF">2026-06-08T23:31:51Z</dcterms:created>
  <dcterms:modified xsi:type="dcterms:W3CDTF">2026-06-08T23:37:39Z</dcterms:modified>
</cp:coreProperties>
</file>